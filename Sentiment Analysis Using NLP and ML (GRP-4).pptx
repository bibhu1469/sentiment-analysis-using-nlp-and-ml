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1" r:id="rId5"/>
    <p:sldId id="259" r:id="rId6"/>
    <p:sldId id="267" r:id="rId7"/>
    <p:sldId id="260" r:id="rId8"/>
    <p:sldId id="271" r:id="rId9"/>
    <p:sldId id="262" r:id="rId10"/>
    <p:sldId id="263" r:id="rId11"/>
    <p:sldId id="264" r:id="rId12"/>
    <p:sldId id="269" r:id="rId13"/>
    <p:sldId id="265" r:id="rId14"/>
    <p:sldId id="270" r:id="rId15"/>
    <p:sldId id="266" r:id="rId16"/>
    <p:sldId id="268" r:id="rId17"/>
  </p:sldIdLst>
  <p:sldSz cx="18288000" cy="10287000"/>
  <p:notesSz cx="6858000" cy="9144000"/>
  <p:embeddedFontLst>
    <p:embeddedFont>
      <p:font typeface="Bricolage Grotesque" panose="020B0604020202020204" charset="0"/>
      <p:regular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58E4"/>
    <a:srgbClr val="FFFFFF"/>
    <a:srgbClr val="D3D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7C644-4C6A-486E-97A1-9CD2094F1E8A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1EF91-4F7C-4D6E-963E-0B9FC7190F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01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31EF91-4F7C-4D6E-963E-0B9FC7190F8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859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Sentiment Analysis using BERT | Amazon Review Sentiment Analysis">
            <a:extLst>
              <a:ext uri="{FF2B5EF4-FFF2-40B4-BE49-F238E27FC236}">
                <a16:creationId xmlns:a16="http://schemas.microsoft.com/office/drawing/2014/main" id="{0D4F22B4-F9ED-FB30-BF30-E6EBC8D35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842" y="3048000"/>
            <a:ext cx="9988358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0" y="0"/>
            <a:ext cx="9829800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04800" y="958636"/>
            <a:ext cx="8534399" cy="8369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US" sz="7200" b="1" dirty="0">
                <a:solidFill>
                  <a:srgbClr val="FFFFFF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CUSTOMER REVIEW SENTIMENT ANALYSIS USING NLP &amp; MACHINE LEARNING</a:t>
            </a:r>
            <a:endParaRPr lang="en-US" sz="7200" b="1" spc="-717" dirty="0">
              <a:solidFill>
                <a:srgbClr val="FFFFFF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EA0A2-FEFF-8D25-EBF8-D104D57EDDF8}"/>
              </a:ext>
            </a:extLst>
          </p:cNvPr>
          <p:cNvSpPr txBox="1"/>
          <p:nvPr/>
        </p:nvSpPr>
        <p:spPr>
          <a:xfrm>
            <a:off x="10204642" y="1973640"/>
            <a:ext cx="78547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</a:t>
            </a:r>
          </a:p>
          <a:p>
            <a:pPr algn="ctr"/>
            <a:r>
              <a:rPr lang="en-IN" sz="48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Bibhuprasad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76400" y="4000500"/>
            <a:ext cx="7365126" cy="394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Understanding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NLP Preprocessing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  <a:endParaRPr lang="en-US" sz="3200" spc="-160" dirty="0">
              <a:solidFill>
                <a:srgbClr val="3A58E4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17939" y="4000500"/>
            <a:ext cx="458462" cy="3927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01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02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03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04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79857" y="3987354"/>
            <a:ext cx="7341343" cy="394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Building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&amp; Evaluation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 Deployment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Sentiment Prediction</a:t>
            </a:r>
          </a:p>
          <a:p>
            <a:pPr marL="271087" lvl="1">
              <a:lnSpc>
                <a:spcPts val="6278"/>
              </a:lnSpc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Challenges Faced</a:t>
            </a:r>
            <a:endParaRPr lang="en-US" sz="3200" spc="-160" dirty="0">
              <a:solidFill>
                <a:srgbClr val="3A58E4"/>
              </a:solidFill>
              <a:latin typeface="Times New Roman" panose="02020603050405020304" pitchFamily="18" charset="0"/>
              <a:ea typeface="Poppins"/>
              <a:cs typeface="Times New Roman" panose="02020603050405020304" pitchFamily="18" charset="0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72600" y="4000500"/>
            <a:ext cx="560327" cy="3927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06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07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08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09</a:t>
            </a:r>
          </a:p>
          <a:p>
            <a:pPr algn="l">
              <a:lnSpc>
                <a:spcPts val="6278"/>
              </a:lnSpc>
            </a:pPr>
            <a:r>
              <a:rPr lang="en-US" sz="3200" b="1" spc="-160" dirty="0">
                <a:solidFill>
                  <a:srgbClr val="3A58E4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10</a:t>
            </a:r>
          </a:p>
        </p:txBody>
      </p:sp>
      <p:grpSp>
        <p:nvGrpSpPr>
          <p:cNvPr id="21" name="Group 2">
            <a:extLst>
              <a:ext uri="{FF2B5EF4-FFF2-40B4-BE49-F238E27FC236}">
                <a16:creationId xmlns:a16="http://schemas.microsoft.com/office/drawing/2014/main" id="{73EFA35A-6975-ADFE-9DAA-D1BDC6A77B85}"/>
              </a:ext>
            </a:extLst>
          </p:cNvPr>
          <p:cNvGrpSpPr/>
          <p:nvPr/>
        </p:nvGrpSpPr>
        <p:grpSpPr>
          <a:xfrm>
            <a:off x="0" y="-38100"/>
            <a:ext cx="18288000" cy="3860242"/>
            <a:chOff x="0" y="-2343943"/>
            <a:chExt cx="636282" cy="5053276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800499E6-7FDF-4231-9DF5-1E47573ABE27}"/>
                </a:ext>
              </a:extLst>
            </p:cNvPr>
            <p:cNvSpPr/>
            <p:nvPr/>
          </p:nvSpPr>
          <p:spPr>
            <a:xfrm>
              <a:off x="0" y="-2343943"/>
              <a:ext cx="636282" cy="2709325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DB73BCFA-8B3A-8123-B6CA-63B3746BBC46}"/>
                </a:ext>
              </a:extLst>
            </p:cNvPr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24968" y="342900"/>
            <a:ext cx="12833115" cy="131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991"/>
              </a:lnSpc>
            </a:pPr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TABLE OF CONTENTS</a:t>
            </a:r>
            <a:endParaRPr lang="en-US" sz="7200" b="1" spc="-717" dirty="0">
              <a:solidFill>
                <a:schemeClr val="bg1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073757" y="1790700"/>
            <a:ext cx="9870843" cy="0"/>
          </a:xfrm>
          <a:prstGeom prst="line">
            <a:avLst/>
          </a:prstGeom>
          <a:ln w="19050" cap="rnd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114 Smart Phone With Multiple Android Applications Powerpoint Template |  PPT Images Gallery | PowerPoint Slide Show | PowerPoint Presentation  Templates">
            <a:extLst>
              <a:ext uri="{FF2B5EF4-FFF2-40B4-BE49-F238E27FC236}">
                <a16:creationId xmlns:a16="http://schemas.microsoft.com/office/drawing/2014/main" id="{1F84A2B3-B50C-E1F4-152E-ADE5E42AA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78" b="8889"/>
          <a:stretch>
            <a:fillRect/>
          </a:stretch>
        </p:blipFill>
        <p:spPr bwMode="auto">
          <a:xfrm>
            <a:off x="152400" y="115196"/>
            <a:ext cx="18048629" cy="8346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2"/>
          <p:cNvGrpSpPr/>
          <p:nvPr/>
        </p:nvGrpSpPr>
        <p:grpSpPr>
          <a:xfrm>
            <a:off x="1" y="115196"/>
            <a:ext cx="18287999" cy="10172701"/>
            <a:chOff x="-771169" y="-455016"/>
            <a:chExt cx="12673453" cy="13563599"/>
          </a:xfrm>
        </p:grpSpPr>
        <p:sp>
          <p:nvSpPr>
            <p:cNvPr id="3" name="TextBox 3"/>
            <p:cNvSpPr txBox="1"/>
            <p:nvPr/>
          </p:nvSpPr>
          <p:spPr>
            <a:xfrm>
              <a:off x="2843573" y="-455016"/>
              <a:ext cx="5731512" cy="15758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603"/>
                </a:lnSpc>
              </a:pPr>
              <a:r>
                <a:rPr lang="en-IN" sz="7200" dirty="0">
                  <a:solidFill>
                    <a:srgbClr val="3A58E4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INTRODUCTION</a:t>
              </a:r>
              <a:endParaRPr lang="en-US" sz="7200" spc="-627" dirty="0">
                <a:solidFill>
                  <a:srgbClr val="3A58E4"/>
                </a:solidFill>
                <a:latin typeface="Poppins Black" panose="00000A00000000000000" pitchFamily="2" charset="0"/>
                <a:ea typeface="Bricolage Grotesque"/>
                <a:cs typeface="Poppins Black" panose="00000A00000000000000" pitchFamily="2" charset="0"/>
                <a:sym typeface="Bricolage Grotesque"/>
              </a:endParaRPr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-771169" y="246303"/>
              <a:ext cx="12673453" cy="12862280"/>
              <a:chOff x="-152327" y="-38100"/>
              <a:chExt cx="2503355" cy="2540698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-152327" y="2111250"/>
                <a:ext cx="2503355" cy="391348"/>
              </a:xfrm>
              <a:custGeom>
                <a:avLst/>
                <a:gdLst/>
                <a:ahLst/>
                <a:cxnLst/>
                <a:rect l="l" t="t" r="r" b="b"/>
                <a:pathLst>
                  <a:path w="12543" h="537460">
                    <a:moveTo>
                      <a:pt x="0" y="0"/>
                    </a:moveTo>
                    <a:lnTo>
                      <a:pt x="12543" y="0"/>
                    </a:lnTo>
                    <a:lnTo>
                      <a:pt x="12543" y="537460"/>
                    </a:lnTo>
                    <a:lnTo>
                      <a:pt x="0" y="537460"/>
                    </a:lnTo>
                    <a:close/>
                  </a:path>
                </a:pathLst>
              </a:custGeom>
              <a:solidFill>
                <a:srgbClr val="3A58E4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2543" cy="5755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0" name="TextBox 10"/>
          <p:cNvSpPr txBox="1"/>
          <p:nvPr/>
        </p:nvSpPr>
        <p:spPr>
          <a:xfrm>
            <a:off x="762000" y="1824990"/>
            <a:ext cx="1659616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play an important role in understanding user satisfaction, product quality, and customer experience.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e-commerce and online platforms, large volumes of customer feedback are generated every day.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these reviews manually is difficult, time-consuming, and inefficient.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may fail to identify hidden patterns and overall customer sentiment effectively.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project, I used Natural Language Processing (NLP) and Machine Learning techniques to analyze customer reviews and automatically classify them into following sentiments.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Positive  </a:t>
            </a:r>
            <a:r>
              <a:rPr lang="en-IN" sz="3200" dirty="0"/>
              <a:t>😊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Negative </a:t>
            </a:r>
            <a:r>
              <a:rPr lang="en-IN" sz="3200" dirty="0"/>
              <a:t>😞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Neutral   </a:t>
            </a:r>
            <a:r>
              <a:rPr lang="en-IN" sz="3200" dirty="0"/>
              <a:t>😐 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75767" y="17356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377190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7875767" y="14474"/>
            <a:ext cx="8621211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DATASET UNDERSTANDING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6940" y="2967990"/>
            <a:ext cx="11233607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loading the dataset, an initial inspection showed that it contains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1440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with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features: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body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customer opinions and ratings related to mobile products, where ratings range from 1 to 5 stars representing different levels of customer satisfaction.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text contains valuable feedback regarding battery performance, camera quality, display, pricing, and overall user experience.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further inspected for missing values, duplicate records, data types, and review distribution before moving to preprocessing and analysis.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40FC0E3-C9D1-1DA3-B3CF-0E2E789B0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44" y="194498"/>
            <a:ext cx="6255510" cy="33073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ED1A2E1-47B3-0647-2168-096EA12E5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80" y="3886202"/>
            <a:ext cx="6245274" cy="3387532"/>
          </a:xfrm>
          <a:prstGeom prst="rect">
            <a:avLst/>
          </a:prstGeom>
        </p:spPr>
      </p:pic>
      <p:sp>
        <p:nvSpPr>
          <p:cNvPr id="27" name="AutoShape 14">
            <a:extLst>
              <a:ext uri="{FF2B5EF4-FFF2-40B4-BE49-F238E27FC236}">
                <a16:creationId xmlns:a16="http://schemas.microsoft.com/office/drawing/2014/main" id="{EAAFD514-FE2D-8898-1DB8-AD9F29CCC9A8}"/>
              </a:ext>
            </a:extLst>
          </p:cNvPr>
          <p:cNvSpPr/>
          <p:nvPr/>
        </p:nvSpPr>
        <p:spPr>
          <a:xfrm>
            <a:off x="0" y="742950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3641BAC-F9B3-1B80-F4AD-F24915430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453" y="7886700"/>
            <a:ext cx="2895600" cy="20296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AE67728-01FF-16D5-36F3-D5C9CF6678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609" y="7876448"/>
            <a:ext cx="2862351" cy="2006326"/>
          </a:xfrm>
          <a:prstGeom prst="rect">
            <a:avLst/>
          </a:prstGeom>
        </p:spPr>
      </p:pic>
      <p:sp>
        <p:nvSpPr>
          <p:cNvPr id="32" name="AutoShape 14">
            <a:extLst>
              <a:ext uri="{FF2B5EF4-FFF2-40B4-BE49-F238E27FC236}">
                <a16:creationId xmlns:a16="http://schemas.microsoft.com/office/drawing/2014/main" id="{97F9CFB3-A786-9370-6F2A-6A1429D7FDB3}"/>
              </a:ext>
            </a:extLst>
          </p:cNvPr>
          <p:cNvSpPr/>
          <p:nvPr/>
        </p:nvSpPr>
        <p:spPr>
          <a:xfrm flipH="1">
            <a:off x="3273494" y="7429499"/>
            <a:ext cx="3054" cy="2857499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30572" y="-12667"/>
            <a:ext cx="141628" cy="10299667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324600" y="133590"/>
            <a:ext cx="9961046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DATA CLEANING &amp; NLP PREPROCESSING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165914" y="2546558"/>
            <a:ext cx="11904258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analysis and model building, several preprocessing steps were applied to improve the quality of the text data.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and review body columns were combined to create a complete review for better sentiment understanding.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techniques such as: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to lowercase,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removing punctuation and special characters,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removing stop words,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and cleaning unwanted text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were performed using NLP techniques.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such as word count, character count, and sentiment labels were also created for exploratory analysis and machine learning.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preprocessing steps helped prepare clean and structured text data for feature extraction and model training.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D3D707-8335-2B61-722C-214176DCE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38100"/>
            <a:ext cx="5867400" cy="3048000"/>
          </a:xfrm>
          <a:prstGeom prst="rect">
            <a:avLst/>
          </a:prstGeom>
        </p:spPr>
      </p:pic>
      <p:grpSp>
        <p:nvGrpSpPr>
          <p:cNvPr id="47" name="Group 36">
            <a:extLst>
              <a:ext uri="{FF2B5EF4-FFF2-40B4-BE49-F238E27FC236}">
                <a16:creationId xmlns:a16="http://schemas.microsoft.com/office/drawing/2014/main" id="{54B71BEB-5F32-D943-55C3-2A64548A72E6}"/>
              </a:ext>
            </a:extLst>
          </p:cNvPr>
          <p:cNvGrpSpPr/>
          <p:nvPr/>
        </p:nvGrpSpPr>
        <p:grpSpPr>
          <a:xfrm>
            <a:off x="1230574" y="7694103"/>
            <a:ext cx="3417626" cy="1026666"/>
            <a:chOff x="0" y="0"/>
            <a:chExt cx="2754311" cy="688185"/>
          </a:xfrm>
        </p:grpSpPr>
        <p:sp>
          <p:nvSpPr>
            <p:cNvPr id="48" name="Freeform 37">
              <a:extLst>
                <a:ext uri="{FF2B5EF4-FFF2-40B4-BE49-F238E27FC236}">
                  <a16:creationId xmlns:a16="http://schemas.microsoft.com/office/drawing/2014/main" id="{FDBE3874-EAED-5652-BD8A-BE5462B9D18F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49" name="TextBox 38">
              <a:extLst>
                <a:ext uri="{FF2B5EF4-FFF2-40B4-BE49-F238E27FC236}">
                  <a16:creationId xmlns:a16="http://schemas.microsoft.com/office/drawing/2014/main" id="{201EE7CA-57A4-F314-E6F8-3F0DBFCF760D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54" name="Group 15">
            <a:extLst>
              <a:ext uri="{FF2B5EF4-FFF2-40B4-BE49-F238E27FC236}">
                <a16:creationId xmlns:a16="http://schemas.microsoft.com/office/drawing/2014/main" id="{7739FFFA-B7AF-27B4-125C-8D56394FFC77}"/>
              </a:ext>
            </a:extLst>
          </p:cNvPr>
          <p:cNvGrpSpPr/>
          <p:nvPr/>
        </p:nvGrpSpPr>
        <p:grpSpPr>
          <a:xfrm>
            <a:off x="1219200" y="9058346"/>
            <a:ext cx="3417627" cy="1114354"/>
            <a:chOff x="0" y="-38100"/>
            <a:chExt cx="2754311" cy="726285"/>
          </a:xfrm>
        </p:grpSpPr>
        <p:sp>
          <p:nvSpPr>
            <p:cNvPr id="55" name="Freeform 16">
              <a:extLst>
                <a:ext uri="{FF2B5EF4-FFF2-40B4-BE49-F238E27FC236}">
                  <a16:creationId xmlns:a16="http://schemas.microsoft.com/office/drawing/2014/main" id="{2EC3AE79-A4F9-654E-8982-1D2454B083B0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6" name="TextBox 17">
              <a:extLst>
                <a:ext uri="{FF2B5EF4-FFF2-40B4-BE49-F238E27FC236}">
                  <a16:creationId xmlns:a16="http://schemas.microsoft.com/office/drawing/2014/main" id="{CE051C07-C1FD-9117-68CE-BF96A1CC6D37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7" name="Group 15">
            <a:extLst>
              <a:ext uri="{FF2B5EF4-FFF2-40B4-BE49-F238E27FC236}">
                <a16:creationId xmlns:a16="http://schemas.microsoft.com/office/drawing/2014/main" id="{78F2300B-2DA1-1DF1-F9C0-F81BB2A4D5B0}"/>
              </a:ext>
            </a:extLst>
          </p:cNvPr>
          <p:cNvGrpSpPr/>
          <p:nvPr/>
        </p:nvGrpSpPr>
        <p:grpSpPr>
          <a:xfrm>
            <a:off x="1230573" y="6210786"/>
            <a:ext cx="3417627" cy="1055896"/>
            <a:chOff x="0" y="0"/>
            <a:chExt cx="2754311" cy="688185"/>
          </a:xfrm>
        </p:grpSpPr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45E5529A-778B-234F-7342-6C0C839665B7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9" name="TextBox 17">
              <a:extLst>
                <a:ext uri="{FF2B5EF4-FFF2-40B4-BE49-F238E27FC236}">
                  <a16:creationId xmlns:a16="http://schemas.microsoft.com/office/drawing/2014/main" id="{675A062A-983C-8A71-A3DF-6A9C52EA033E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0" name="Group 36">
            <a:extLst>
              <a:ext uri="{FF2B5EF4-FFF2-40B4-BE49-F238E27FC236}">
                <a16:creationId xmlns:a16="http://schemas.microsoft.com/office/drawing/2014/main" id="{C9625D87-B6CF-781E-A342-7898D56A5686}"/>
              </a:ext>
            </a:extLst>
          </p:cNvPr>
          <p:cNvGrpSpPr/>
          <p:nvPr/>
        </p:nvGrpSpPr>
        <p:grpSpPr>
          <a:xfrm>
            <a:off x="1230574" y="4726434"/>
            <a:ext cx="3417626" cy="1026666"/>
            <a:chOff x="0" y="0"/>
            <a:chExt cx="2754311" cy="688185"/>
          </a:xfrm>
        </p:grpSpPr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4B530FD1-9D61-4B6F-86B6-C877D5F586AF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62" name="TextBox 38">
              <a:extLst>
                <a:ext uri="{FF2B5EF4-FFF2-40B4-BE49-F238E27FC236}">
                  <a16:creationId xmlns:a16="http://schemas.microsoft.com/office/drawing/2014/main" id="{BB7AF623-2878-6348-8312-30822C063D2A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63" name="Group 15">
            <a:extLst>
              <a:ext uri="{FF2B5EF4-FFF2-40B4-BE49-F238E27FC236}">
                <a16:creationId xmlns:a16="http://schemas.microsoft.com/office/drawing/2014/main" id="{8EB941A3-5E2C-244F-A0DA-173800E0C07E}"/>
              </a:ext>
            </a:extLst>
          </p:cNvPr>
          <p:cNvGrpSpPr/>
          <p:nvPr/>
        </p:nvGrpSpPr>
        <p:grpSpPr>
          <a:xfrm>
            <a:off x="1230573" y="3314700"/>
            <a:ext cx="3417627" cy="1055896"/>
            <a:chOff x="0" y="0"/>
            <a:chExt cx="2754311" cy="688185"/>
          </a:xfrm>
        </p:grpSpPr>
        <p:sp>
          <p:nvSpPr>
            <p:cNvPr id="64" name="Freeform 16">
              <a:extLst>
                <a:ext uri="{FF2B5EF4-FFF2-40B4-BE49-F238E27FC236}">
                  <a16:creationId xmlns:a16="http://schemas.microsoft.com/office/drawing/2014/main" id="{4D2C798D-18A6-ED89-E58B-B6F8A314C1F5}"/>
                </a:ext>
              </a:extLst>
            </p:cNvPr>
            <p:cNvSpPr/>
            <p:nvPr/>
          </p:nvSpPr>
          <p:spPr>
            <a:xfrm>
              <a:off x="0" y="0"/>
              <a:ext cx="2754311" cy="688185"/>
            </a:xfrm>
            <a:custGeom>
              <a:avLst/>
              <a:gdLst/>
              <a:ahLst/>
              <a:cxnLst/>
              <a:rect l="l" t="t" r="r" b="b"/>
              <a:pathLst>
                <a:path w="2754311" h="688185">
                  <a:moveTo>
                    <a:pt x="52211" y="0"/>
                  </a:moveTo>
                  <a:lnTo>
                    <a:pt x="2702100" y="0"/>
                  </a:lnTo>
                  <a:cubicBezTo>
                    <a:pt x="2715947" y="0"/>
                    <a:pt x="2729227" y="5501"/>
                    <a:pt x="2739019" y="15292"/>
                  </a:cubicBezTo>
                  <a:cubicBezTo>
                    <a:pt x="2748810" y="25084"/>
                    <a:pt x="2754311" y="38364"/>
                    <a:pt x="2754311" y="52211"/>
                  </a:cubicBezTo>
                  <a:lnTo>
                    <a:pt x="2754311" y="635973"/>
                  </a:lnTo>
                  <a:cubicBezTo>
                    <a:pt x="2754311" y="649820"/>
                    <a:pt x="2748810" y="663101"/>
                    <a:pt x="2739019" y="672892"/>
                  </a:cubicBezTo>
                  <a:cubicBezTo>
                    <a:pt x="2729227" y="682684"/>
                    <a:pt x="2715947" y="688185"/>
                    <a:pt x="2702100" y="688185"/>
                  </a:cubicBezTo>
                  <a:lnTo>
                    <a:pt x="52211" y="688185"/>
                  </a:lnTo>
                  <a:cubicBezTo>
                    <a:pt x="38364" y="688185"/>
                    <a:pt x="25084" y="682684"/>
                    <a:pt x="15292" y="672892"/>
                  </a:cubicBezTo>
                  <a:cubicBezTo>
                    <a:pt x="5501" y="663101"/>
                    <a:pt x="0" y="649820"/>
                    <a:pt x="0" y="635973"/>
                  </a:cubicBezTo>
                  <a:lnTo>
                    <a:pt x="0" y="52211"/>
                  </a:lnTo>
                  <a:cubicBezTo>
                    <a:pt x="0" y="38364"/>
                    <a:pt x="5501" y="25084"/>
                    <a:pt x="15292" y="15292"/>
                  </a:cubicBezTo>
                  <a:cubicBezTo>
                    <a:pt x="25084" y="5501"/>
                    <a:pt x="38364" y="0"/>
                    <a:pt x="5221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65" name="TextBox 17">
              <a:extLst>
                <a:ext uri="{FF2B5EF4-FFF2-40B4-BE49-F238E27FC236}">
                  <a16:creationId xmlns:a16="http://schemas.microsoft.com/office/drawing/2014/main" id="{86580A5C-13EB-D9E3-2A10-1F09FBAD97FA}"/>
                </a:ext>
              </a:extLst>
            </p:cNvPr>
            <p:cNvSpPr txBox="1"/>
            <p:nvPr/>
          </p:nvSpPr>
          <p:spPr>
            <a:xfrm>
              <a:off x="0" y="-38100"/>
              <a:ext cx="2754311" cy="726285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7ECDE270-5867-0324-63B1-1428892BB484}"/>
              </a:ext>
            </a:extLst>
          </p:cNvPr>
          <p:cNvSpPr txBox="1"/>
          <p:nvPr/>
        </p:nvSpPr>
        <p:spPr>
          <a:xfrm>
            <a:off x="1371600" y="35433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Raw Review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1C3F1D-982E-C1D8-DA05-B3D26409AA3E}"/>
              </a:ext>
            </a:extLst>
          </p:cNvPr>
          <p:cNvSpPr txBox="1"/>
          <p:nvPr/>
        </p:nvSpPr>
        <p:spPr>
          <a:xfrm>
            <a:off x="1371600" y="49149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Lowercasing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105BE6F-1B37-D617-2BEC-F52CBAED207B}"/>
              </a:ext>
            </a:extLst>
          </p:cNvPr>
          <p:cNvSpPr txBox="1"/>
          <p:nvPr/>
        </p:nvSpPr>
        <p:spPr>
          <a:xfrm>
            <a:off x="1382973" y="6199882"/>
            <a:ext cx="3112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Special Characters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636CBB-DAB5-B653-8B41-AD46BC7EE070}"/>
              </a:ext>
            </a:extLst>
          </p:cNvPr>
          <p:cNvSpPr txBox="1"/>
          <p:nvPr/>
        </p:nvSpPr>
        <p:spPr>
          <a:xfrm>
            <a:off x="1371600" y="7647682"/>
            <a:ext cx="2988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</a:t>
            </a:r>
            <a:r>
              <a:rPr lang="en-IN" sz="3200" b="1" dirty="0" err="1">
                <a:solidFill>
                  <a:srgbClr val="3A58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endParaRPr lang="en-IN" sz="3200" b="1" dirty="0">
              <a:solidFill>
                <a:srgbClr val="3A58E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3587F9-CA6D-106F-688D-861E12441FC0}"/>
              </a:ext>
            </a:extLst>
          </p:cNvPr>
          <p:cNvSpPr txBox="1"/>
          <p:nvPr/>
        </p:nvSpPr>
        <p:spPr>
          <a:xfrm>
            <a:off x="1444956" y="9292357"/>
            <a:ext cx="2988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Review</a:t>
            </a:r>
          </a:p>
        </p:txBody>
      </p:sp>
      <p:sp>
        <p:nvSpPr>
          <p:cNvPr id="73" name="AutoShape 19">
            <a:extLst>
              <a:ext uri="{FF2B5EF4-FFF2-40B4-BE49-F238E27FC236}">
                <a16:creationId xmlns:a16="http://schemas.microsoft.com/office/drawing/2014/main" id="{02CEED29-6DD7-640C-C515-B1C93486BF65}"/>
              </a:ext>
            </a:extLst>
          </p:cNvPr>
          <p:cNvSpPr/>
          <p:nvPr/>
        </p:nvSpPr>
        <p:spPr>
          <a:xfrm flipV="1">
            <a:off x="6030572" y="2368703"/>
            <a:ext cx="12257427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4" name="Freeform 13">
            <a:extLst>
              <a:ext uri="{FF2B5EF4-FFF2-40B4-BE49-F238E27FC236}">
                <a16:creationId xmlns:a16="http://schemas.microsoft.com/office/drawing/2014/main" id="{37278AFA-80E0-120A-39F1-6DA692CAB445}"/>
              </a:ext>
            </a:extLst>
          </p:cNvPr>
          <p:cNvSpPr/>
          <p:nvPr/>
        </p:nvSpPr>
        <p:spPr>
          <a:xfrm>
            <a:off x="2819400" y="4381500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A80131A9-32EB-2D9F-0236-E6DB710EE942}"/>
              </a:ext>
            </a:extLst>
          </p:cNvPr>
          <p:cNvSpPr/>
          <p:nvPr/>
        </p:nvSpPr>
        <p:spPr>
          <a:xfrm>
            <a:off x="2819400" y="58410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7" name="Freeform 13">
            <a:extLst>
              <a:ext uri="{FF2B5EF4-FFF2-40B4-BE49-F238E27FC236}">
                <a16:creationId xmlns:a16="http://schemas.microsoft.com/office/drawing/2014/main" id="{0827CC33-5223-32B2-31A7-F331BE53E1BA}"/>
              </a:ext>
            </a:extLst>
          </p:cNvPr>
          <p:cNvSpPr/>
          <p:nvPr/>
        </p:nvSpPr>
        <p:spPr>
          <a:xfrm>
            <a:off x="2819400" y="73650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8" name="Freeform 13">
            <a:extLst>
              <a:ext uri="{FF2B5EF4-FFF2-40B4-BE49-F238E27FC236}">
                <a16:creationId xmlns:a16="http://schemas.microsoft.com/office/drawing/2014/main" id="{CC06A018-985F-6279-BE79-49A682DAA37F}"/>
              </a:ext>
            </a:extLst>
          </p:cNvPr>
          <p:cNvSpPr/>
          <p:nvPr/>
        </p:nvSpPr>
        <p:spPr>
          <a:xfrm>
            <a:off x="2819400" y="8812869"/>
            <a:ext cx="324373" cy="293031"/>
          </a:xfrm>
          <a:custGeom>
            <a:avLst/>
            <a:gdLst/>
            <a:ahLst/>
            <a:cxnLst/>
            <a:rect l="l" t="t" r="r" b="b"/>
            <a:pathLst>
              <a:path w="252200" h="304858">
                <a:moveTo>
                  <a:pt x="0" y="0"/>
                </a:moveTo>
                <a:lnTo>
                  <a:pt x="252200" y="0"/>
                </a:lnTo>
                <a:lnTo>
                  <a:pt x="252200" y="304857"/>
                </a:lnTo>
                <a:lnTo>
                  <a:pt x="0" y="3048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9" name="AutoShape 14">
            <a:extLst>
              <a:ext uri="{FF2B5EF4-FFF2-40B4-BE49-F238E27FC236}">
                <a16:creationId xmlns:a16="http://schemas.microsoft.com/office/drawing/2014/main" id="{B685D3A4-E5D8-8A81-BA01-FFC04CC3787A}"/>
              </a:ext>
            </a:extLst>
          </p:cNvPr>
          <p:cNvSpPr/>
          <p:nvPr/>
        </p:nvSpPr>
        <p:spPr>
          <a:xfrm>
            <a:off x="1" y="3238500"/>
            <a:ext cx="6030572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 rot="16200000" flipH="1">
            <a:off x="13693143" y="-1554480"/>
            <a:ext cx="45719" cy="8839201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86462" y="3519936"/>
            <a:ext cx="8668745" cy="5170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the review data, exploratory data analysis was performed to better understand customer opinions and review behavior.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visualizations were created to analyze: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rating distribution,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review length patterns,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sentiment distribution,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frequently used words in reviews.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helped identify important customer trends and commonly discussed product features before building machine learning models.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13176F6-1572-A9BC-B0EB-642E93413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592" y="3017520"/>
            <a:ext cx="4166937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3EAA5F1-3C29-4379-734D-EE703A39A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8290" y="3026011"/>
            <a:ext cx="4245870" cy="28481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78DD05-CB98-397F-C024-4FABFE3BD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9672" y="6138915"/>
            <a:ext cx="4186536" cy="28324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898C849-3D0A-BC98-7F22-02D278F786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7113" y="6164579"/>
            <a:ext cx="4166937" cy="2819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1" name="Freeform 5">
            <a:extLst>
              <a:ext uri="{FF2B5EF4-FFF2-40B4-BE49-F238E27FC236}">
                <a16:creationId xmlns:a16="http://schemas.microsoft.com/office/drawing/2014/main" id="{E56B0D8E-625D-37C2-0078-0EA7F41390C9}"/>
              </a:ext>
            </a:extLst>
          </p:cNvPr>
          <p:cNvSpPr/>
          <p:nvPr/>
        </p:nvSpPr>
        <p:spPr>
          <a:xfrm>
            <a:off x="-34345" y="-38100"/>
            <a:ext cx="18322345" cy="2215991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2" name="TextBox 2"/>
          <p:cNvSpPr txBox="1"/>
          <p:nvPr/>
        </p:nvSpPr>
        <p:spPr>
          <a:xfrm>
            <a:off x="0" y="-38100"/>
            <a:ext cx="163830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EXPLORATORY DATA ANALYSIS (EDA)</a:t>
            </a:r>
            <a:endParaRPr lang="en-US" sz="7200" b="1" dirty="0">
              <a:solidFill>
                <a:schemeClr val="bg1"/>
              </a:solidFill>
              <a:latin typeface="Poppins Black" panose="00000A00000000000000" pitchFamily="2" charset="0"/>
              <a:cs typeface="Poppins Black" panose="00000A00000000000000" pitchFamily="2" charset="0"/>
            </a:endParaRPr>
          </a:p>
        </p:txBody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53AC5C8F-29A4-A934-B0F4-C6814A0CB0A7}"/>
              </a:ext>
            </a:extLst>
          </p:cNvPr>
          <p:cNvSpPr/>
          <p:nvPr/>
        </p:nvSpPr>
        <p:spPr>
          <a:xfrm>
            <a:off x="16438046" y="-38100"/>
            <a:ext cx="1849954" cy="1848166"/>
          </a:xfrm>
          <a:custGeom>
            <a:avLst/>
            <a:gdLst/>
            <a:ahLst/>
            <a:cxnLst/>
            <a:rect l="l" t="t" r="r" b="b"/>
            <a:pathLst>
              <a:path w="787566" h="786805">
                <a:moveTo>
                  <a:pt x="0" y="0"/>
                </a:moveTo>
                <a:lnTo>
                  <a:pt x="787566" y="0"/>
                </a:lnTo>
                <a:lnTo>
                  <a:pt x="787566" y="786805"/>
                </a:lnTo>
                <a:lnTo>
                  <a:pt x="0" y="786805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1D1BCF16-770A-DC2A-D744-B4EFC903FAE2}"/>
              </a:ext>
            </a:extLst>
          </p:cNvPr>
          <p:cNvSpPr txBox="1"/>
          <p:nvPr/>
        </p:nvSpPr>
        <p:spPr>
          <a:xfrm>
            <a:off x="16677419" y="545558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3A58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  <p:grpSp>
        <p:nvGrpSpPr>
          <p:cNvPr id="38" name="Group 3">
            <a:extLst>
              <a:ext uri="{FF2B5EF4-FFF2-40B4-BE49-F238E27FC236}">
                <a16:creationId xmlns:a16="http://schemas.microsoft.com/office/drawing/2014/main" id="{6D1B9BBB-2376-9E38-A624-507BB3286525}"/>
              </a:ext>
            </a:extLst>
          </p:cNvPr>
          <p:cNvGrpSpPr/>
          <p:nvPr/>
        </p:nvGrpSpPr>
        <p:grpSpPr>
          <a:xfrm rot="10800000" flipH="1">
            <a:off x="9296401" y="2887503"/>
            <a:ext cx="45719" cy="6248876"/>
            <a:chOff x="0" y="0"/>
            <a:chExt cx="12543" cy="537460"/>
          </a:xfrm>
        </p:grpSpPr>
        <p:sp>
          <p:nvSpPr>
            <p:cNvPr id="39" name="Freeform 4">
              <a:extLst>
                <a:ext uri="{FF2B5EF4-FFF2-40B4-BE49-F238E27FC236}">
                  <a16:creationId xmlns:a16="http://schemas.microsoft.com/office/drawing/2014/main" id="{64F65CD7-F661-3950-D8A8-5E63779F28B4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0" name="TextBox 5">
              <a:extLst>
                <a:ext uri="{FF2B5EF4-FFF2-40B4-BE49-F238E27FC236}">
                  <a16:creationId xmlns:a16="http://schemas.microsoft.com/office/drawing/2014/main" id="{7BA74449-488A-D72C-7CC0-035FEDDDFD6F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3">
            <a:extLst>
              <a:ext uri="{FF2B5EF4-FFF2-40B4-BE49-F238E27FC236}">
                <a16:creationId xmlns:a16="http://schemas.microsoft.com/office/drawing/2014/main" id="{7FED060F-C57F-495B-56C0-F7FD528E0EBF}"/>
              </a:ext>
            </a:extLst>
          </p:cNvPr>
          <p:cNvGrpSpPr/>
          <p:nvPr/>
        </p:nvGrpSpPr>
        <p:grpSpPr>
          <a:xfrm rot="10800000" flipH="1">
            <a:off x="18089881" y="2887980"/>
            <a:ext cx="45719" cy="6248876"/>
            <a:chOff x="0" y="0"/>
            <a:chExt cx="12543" cy="537460"/>
          </a:xfrm>
        </p:grpSpPr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BEC9EDFE-AD5B-1DEA-1251-42D6C47D8BE7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3" name="TextBox 5">
              <a:extLst>
                <a:ext uri="{FF2B5EF4-FFF2-40B4-BE49-F238E27FC236}">
                  <a16:creationId xmlns:a16="http://schemas.microsoft.com/office/drawing/2014/main" id="{AA4A2F8C-931B-A2E1-C523-CD8B6451226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3">
            <a:extLst>
              <a:ext uri="{FF2B5EF4-FFF2-40B4-BE49-F238E27FC236}">
                <a16:creationId xmlns:a16="http://schemas.microsoft.com/office/drawing/2014/main" id="{067D952A-1F8E-E7AF-1574-A8CDD3D8166D}"/>
              </a:ext>
            </a:extLst>
          </p:cNvPr>
          <p:cNvGrpSpPr/>
          <p:nvPr/>
        </p:nvGrpSpPr>
        <p:grpSpPr>
          <a:xfrm rot="16200000" flipH="1">
            <a:off x="13693141" y="1569720"/>
            <a:ext cx="45719" cy="8839201"/>
            <a:chOff x="0" y="0"/>
            <a:chExt cx="12543" cy="537460"/>
          </a:xfrm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92EDE05B-056F-895A-808F-5299EE04B0DD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6" name="TextBox 5">
              <a:extLst>
                <a:ext uri="{FF2B5EF4-FFF2-40B4-BE49-F238E27FC236}">
                  <a16:creationId xmlns:a16="http://schemas.microsoft.com/office/drawing/2014/main" id="{121FC813-A364-C234-C142-332F8DEF01E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3">
            <a:extLst>
              <a:ext uri="{FF2B5EF4-FFF2-40B4-BE49-F238E27FC236}">
                <a16:creationId xmlns:a16="http://schemas.microsoft.com/office/drawing/2014/main" id="{849D006B-6A43-5097-11F6-576DBFFF84D1}"/>
              </a:ext>
            </a:extLst>
          </p:cNvPr>
          <p:cNvGrpSpPr/>
          <p:nvPr/>
        </p:nvGrpSpPr>
        <p:grpSpPr>
          <a:xfrm rot="16200000" flipH="1">
            <a:off x="13693141" y="4739640"/>
            <a:ext cx="45719" cy="8839201"/>
            <a:chOff x="0" y="0"/>
            <a:chExt cx="12543" cy="537460"/>
          </a:xfrm>
        </p:grpSpPr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F1EE0AAB-20D2-9BE2-9DD2-4C020BE19026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9" name="TextBox 5">
              <a:extLst>
                <a:ext uri="{FF2B5EF4-FFF2-40B4-BE49-F238E27FC236}">
                  <a16:creationId xmlns:a16="http://schemas.microsoft.com/office/drawing/2014/main" id="{5093F945-F102-86E0-5CAD-2CC7C9B35578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3">
            <a:extLst>
              <a:ext uri="{FF2B5EF4-FFF2-40B4-BE49-F238E27FC236}">
                <a16:creationId xmlns:a16="http://schemas.microsoft.com/office/drawing/2014/main" id="{D049A70E-3119-193C-DB66-78165A00F694}"/>
              </a:ext>
            </a:extLst>
          </p:cNvPr>
          <p:cNvGrpSpPr/>
          <p:nvPr/>
        </p:nvGrpSpPr>
        <p:grpSpPr>
          <a:xfrm rot="10800000" flipH="1">
            <a:off x="13670281" y="2887980"/>
            <a:ext cx="45719" cy="6248876"/>
            <a:chOff x="0" y="0"/>
            <a:chExt cx="12543" cy="537460"/>
          </a:xfrm>
        </p:grpSpPr>
        <p:sp>
          <p:nvSpPr>
            <p:cNvPr id="51" name="Freeform 4">
              <a:extLst>
                <a:ext uri="{FF2B5EF4-FFF2-40B4-BE49-F238E27FC236}">
                  <a16:creationId xmlns:a16="http://schemas.microsoft.com/office/drawing/2014/main" id="{690B1E87-7B97-7D05-0B41-1C5E3BA56A32}"/>
                </a:ext>
              </a:extLst>
            </p:cNvPr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2" name="TextBox 5">
              <a:extLst>
                <a:ext uri="{FF2B5EF4-FFF2-40B4-BE49-F238E27FC236}">
                  <a16:creationId xmlns:a16="http://schemas.microsoft.com/office/drawing/2014/main" id="{BBD5E3A2-ACEE-58B6-CAE0-0E9C8A5169BA}"/>
                </a:ext>
              </a:extLst>
            </p:cNvPr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1789849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flipH="1">
            <a:off x="753296" y="0"/>
            <a:ext cx="123420" cy="1401240"/>
            <a:chOff x="0" y="-65588"/>
            <a:chExt cx="12543" cy="603048"/>
          </a:xfrm>
        </p:grpSpPr>
        <p:sp>
          <p:nvSpPr>
            <p:cNvPr id="33" name="Freeform 33"/>
            <p:cNvSpPr/>
            <p:nvPr/>
          </p:nvSpPr>
          <p:spPr>
            <a:xfrm>
              <a:off x="0" y="-65588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6" y="72112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28600" y="1783894"/>
            <a:ext cx="17512711" cy="39395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rating distribution plot was used to analyze customer satisfaction levels based on review ratings from 1 to 5 stars.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showed that: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5-star ratings were the most frequent,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while 1-star ratings were also significant,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indicating both positive and negative customer experiences.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helped understand the overall opinion distribution within the dataset before sentiment modeling.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56A170-1D90-66DD-05F0-3E346DBABA30}"/>
              </a:ext>
            </a:extLst>
          </p:cNvPr>
          <p:cNvSpPr txBox="1"/>
          <p:nvPr/>
        </p:nvSpPr>
        <p:spPr>
          <a:xfrm>
            <a:off x="990600" y="495300"/>
            <a:ext cx="16394732" cy="793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88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RATING DISTRIBUTION ANALYSIS</a:t>
            </a:r>
            <a:endParaRPr lang="en-US" sz="7200" spc="-299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66" name="TextBox 13">
            <a:extLst>
              <a:ext uri="{FF2B5EF4-FFF2-40B4-BE49-F238E27FC236}">
                <a16:creationId xmlns:a16="http://schemas.microsoft.com/office/drawing/2014/main" id="{89E200DF-D750-D718-200C-AA62E484E6E3}"/>
              </a:ext>
            </a:extLst>
          </p:cNvPr>
          <p:cNvSpPr txBox="1"/>
          <p:nvPr/>
        </p:nvSpPr>
        <p:spPr>
          <a:xfrm>
            <a:off x="16677419" y="520537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67" name="Group 9">
            <a:extLst>
              <a:ext uri="{FF2B5EF4-FFF2-40B4-BE49-F238E27FC236}">
                <a16:creationId xmlns:a16="http://schemas.microsoft.com/office/drawing/2014/main" id="{2F87E622-C707-14F9-DB38-6B4A8188A431}"/>
              </a:ext>
            </a:extLst>
          </p:cNvPr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68" name="Group 10">
              <a:extLst>
                <a:ext uri="{FF2B5EF4-FFF2-40B4-BE49-F238E27FC236}">
                  <a16:creationId xmlns:a16="http://schemas.microsoft.com/office/drawing/2014/main" id="{3021EC8A-D77E-17C5-8BCD-361606CDA52A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811D7ABE-C659-615D-6C9E-4E3A94A42E12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71" name="TextBox 12">
                <a:extLst>
                  <a:ext uri="{FF2B5EF4-FFF2-40B4-BE49-F238E27FC236}">
                    <a16:creationId xmlns:a16="http://schemas.microsoft.com/office/drawing/2014/main" id="{43130906-1834-657F-0578-E419CA4B5E8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9" name="TextBox 13">
              <a:extLst>
                <a:ext uri="{FF2B5EF4-FFF2-40B4-BE49-F238E27FC236}">
                  <a16:creationId xmlns:a16="http://schemas.microsoft.com/office/drawing/2014/main" id="{A7DD47A9-13CE-DFED-3A97-34B6E35DC99A}"/>
                </a:ext>
              </a:extLst>
            </p:cNvPr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pic>
        <p:nvPicPr>
          <p:cNvPr id="1026" name="Picture 2" descr="0">
            <a:extLst>
              <a:ext uri="{FF2B5EF4-FFF2-40B4-BE49-F238E27FC236}">
                <a16:creationId xmlns:a16="http://schemas.microsoft.com/office/drawing/2014/main" id="{801BB5E7-BAC4-F539-1186-AF8C11891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713767"/>
            <a:ext cx="7010400" cy="4416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2" name="Table 71">
            <a:extLst>
              <a:ext uri="{FF2B5EF4-FFF2-40B4-BE49-F238E27FC236}">
                <a16:creationId xmlns:a16="http://schemas.microsoft.com/office/drawing/2014/main" id="{DEF5780B-C827-BEFE-503B-B9C1B4161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908252"/>
              </p:ext>
            </p:extLst>
          </p:nvPr>
        </p:nvGraphicFramePr>
        <p:xfrm>
          <a:off x="10363200" y="5739322"/>
          <a:ext cx="5867400" cy="3839666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996284">
                  <a:extLst>
                    <a:ext uri="{9D8B030D-6E8A-4147-A177-3AD203B41FA5}">
                      <a16:colId xmlns:a16="http://schemas.microsoft.com/office/drawing/2014/main" val="1723641383"/>
                    </a:ext>
                  </a:extLst>
                </a:gridCol>
                <a:gridCol w="2871116">
                  <a:extLst>
                    <a:ext uri="{9D8B030D-6E8A-4147-A177-3AD203B41FA5}">
                      <a16:colId xmlns:a16="http://schemas.microsoft.com/office/drawing/2014/main" val="1046629890"/>
                    </a:ext>
                  </a:extLst>
                </a:gridCol>
              </a:tblGrid>
              <a:tr h="803616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2"/>
                          </a:solidFill>
                          <a:latin typeface="+mj-lt"/>
                          <a:cs typeface="Poppins Black" panose="00000A00000000000000" pitchFamily="2" charset="0"/>
                        </a:rPr>
                        <a:t>Rating</a:t>
                      </a:r>
                      <a:endParaRPr lang="en-IN" sz="3200" b="1" dirty="0">
                        <a:solidFill>
                          <a:schemeClr val="bg2"/>
                        </a:solidFill>
                        <a:latin typeface="+mj-lt"/>
                        <a:cs typeface="Poppins Black" panose="00000A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bg2"/>
                          </a:solidFill>
                        </a:rPr>
                        <a:t>Count</a:t>
                      </a:r>
                      <a:endParaRPr lang="en-IN" sz="3200" b="1" dirty="0">
                        <a:solidFill>
                          <a:schemeClr val="bg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054157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386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522890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126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0291791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967951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IN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310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0596447"/>
                  </a:ext>
                </a:extLst>
              </a:tr>
              <a:tr h="60721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419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01881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35">
            <a:extLst>
              <a:ext uri="{FF2B5EF4-FFF2-40B4-BE49-F238E27FC236}">
                <a16:creationId xmlns:a16="http://schemas.microsoft.com/office/drawing/2014/main" id="{58B553A1-57AE-817D-BBD0-07336C7C684D}"/>
              </a:ext>
            </a:extLst>
          </p:cNvPr>
          <p:cNvGrpSpPr/>
          <p:nvPr/>
        </p:nvGrpSpPr>
        <p:grpSpPr>
          <a:xfrm>
            <a:off x="-9525" y="7581900"/>
            <a:ext cx="542926" cy="2743200"/>
            <a:chOff x="0" y="0"/>
            <a:chExt cx="143984" cy="820098"/>
          </a:xfrm>
          <a:solidFill>
            <a:srgbClr val="3A58E4"/>
          </a:solidFill>
        </p:grpSpPr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C4E7536A-E7CE-508A-3E2F-0FD67DC9783B}"/>
                </a:ext>
              </a:extLst>
            </p:cNvPr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pFill/>
          </p:spPr>
        </p:sp>
        <p:sp>
          <p:nvSpPr>
            <p:cNvPr id="14" name="TextBox 37">
              <a:extLst>
                <a:ext uri="{FF2B5EF4-FFF2-40B4-BE49-F238E27FC236}">
                  <a16:creationId xmlns:a16="http://schemas.microsoft.com/office/drawing/2014/main" id="{46B9B324-542A-9182-F530-1A4A9058F3D4}"/>
                </a:ext>
              </a:extLst>
            </p:cNvPr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2">
            <a:extLst>
              <a:ext uri="{FF2B5EF4-FFF2-40B4-BE49-F238E27FC236}">
                <a16:creationId xmlns:a16="http://schemas.microsoft.com/office/drawing/2014/main" id="{A0735D45-ECC8-9B78-2572-03C89445A788}"/>
              </a:ext>
            </a:extLst>
          </p:cNvPr>
          <p:cNvGrpSpPr/>
          <p:nvPr/>
        </p:nvGrpSpPr>
        <p:grpSpPr>
          <a:xfrm>
            <a:off x="17741311" y="2161310"/>
            <a:ext cx="546689" cy="7173190"/>
            <a:chOff x="0" y="0"/>
            <a:chExt cx="143984" cy="1889235"/>
          </a:xfrm>
          <a:solidFill>
            <a:srgbClr val="3A58E4"/>
          </a:solidFill>
        </p:grpSpPr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A90C36FE-03FC-DC96-203F-A6C8C468C3C4}"/>
                </a:ext>
              </a:extLst>
            </p:cNvPr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pFill/>
          </p:spPr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AAA4A281-BC78-CBE8-2105-91CC74B918E2}"/>
                </a:ext>
              </a:extLst>
            </p:cNvPr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Freeform 5">
            <a:extLst>
              <a:ext uri="{FF2B5EF4-FFF2-40B4-BE49-F238E27FC236}">
                <a16:creationId xmlns:a16="http://schemas.microsoft.com/office/drawing/2014/main" id="{FD275E86-9C20-4727-7AF0-13F24F648FC2}"/>
              </a:ext>
            </a:extLst>
          </p:cNvPr>
          <p:cNvSpPr/>
          <p:nvPr/>
        </p:nvSpPr>
        <p:spPr>
          <a:xfrm>
            <a:off x="-17173" y="-38100"/>
            <a:ext cx="18322345" cy="2209799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6" name="Freeform 11">
            <a:extLst>
              <a:ext uri="{FF2B5EF4-FFF2-40B4-BE49-F238E27FC236}">
                <a16:creationId xmlns:a16="http://schemas.microsoft.com/office/drawing/2014/main" id="{01C9A29E-7FAB-D1E3-0BF5-61CEAB49F151}"/>
              </a:ext>
            </a:extLst>
          </p:cNvPr>
          <p:cNvSpPr/>
          <p:nvPr/>
        </p:nvSpPr>
        <p:spPr>
          <a:xfrm>
            <a:off x="16438046" y="-38100"/>
            <a:ext cx="1849954" cy="1848166"/>
          </a:xfrm>
          <a:custGeom>
            <a:avLst/>
            <a:gdLst/>
            <a:ahLst/>
            <a:cxnLst/>
            <a:rect l="l" t="t" r="r" b="b"/>
            <a:pathLst>
              <a:path w="787566" h="786805">
                <a:moveTo>
                  <a:pt x="0" y="0"/>
                </a:moveTo>
                <a:lnTo>
                  <a:pt x="787566" y="0"/>
                </a:lnTo>
                <a:lnTo>
                  <a:pt x="787566" y="786805"/>
                </a:lnTo>
                <a:lnTo>
                  <a:pt x="0" y="786805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CB25CEAE-18D3-E8BE-1C6B-7B1C39B45F3B}"/>
              </a:ext>
            </a:extLst>
          </p:cNvPr>
          <p:cNvSpPr txBox="1"/>
          <p:nvPr/>
        </p:nvSpPr>
        <p:spPr>
          <a:xfrm>
            <a:off x="16677418" y="464681"/>
            <a:ext cx="1371209" cy="84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3A58E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2CAE57-72B2-B002-BA26-F80668D2467E}"/>
              </a:ext>
            </a:extLst>
          </p:cNvPr>
          <p:cNvSpPr txBox="1"/>
          <p:nvPr/>
        </p:nvSpPr>
        <p:spPr>
          <a:xfrm>
            <a:off x="381000" y="342900"/>
            <a:ext cx="15817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REVIEW WORD COUNT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025775-D953-8254-63C6-4E43249AB974}"/>
              </a:ext>
            </a:extLst>
          </p:cNvPr>
          <p:cNvSpPr txBox="1"/>
          <p:nvPr/>
        </p:nvSpPr>
        <p:spPr>
          <a:xfrm>
            <a:off x="201842" y="3403925"/>
            <a:ext cx="838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review word count distribution was analyzed to understand customer review length and writing behavior.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that most customer reviews contain approximately 20 to 60 words, while only a few reviews are very short or extremely lengthy.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helped identify the overall review pattern and supported further NLP preprocessing and feature engineering.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0">
            <a:extLst>
              <a:ext uri="{FF2B5EF4-FFF2-40B4-BE49-F238E27FC236}">
                <a16:creationId xmlns:a16="http://schemas.microsoft.com/office/drawing/2014/main" id="{BA967A3A-0833-4CE7-084C-8DE40365D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1288" y="3148625"/>
            <a:ext cx="8910023" cy="6185875"/>
          </a:xfrm>
          <a:prstGeom prst="rect">
            <a:avLst/>
          </a:prstGeom>
          <a:ln w="6350" cap="rnd">
            <a:solidFill>
              <a:schemeClr val="tx1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264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4887" y="0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52512" y="-10447"/>
            <a:ext cx="14545209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SENTIMENT DISTRIBUTION ANALYSIS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620000" y="2923058"/>
            <a:ext cx="10428628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were categorized into: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Negative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sentiments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based on rating values.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distribution analysis showed that Positive reviews were dominant in the dataset, indicating overall customer satisfaction with the product.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reviews were also significant, while Neutral reviews were comparatively fewer.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visualization helped understand the balance of sentiment classes before machine learning model training.</a:t>
            </a:r>
          </a:p>
        </p:txBody>
      </p:sp>
      <p:pic>
        <p:nvPicPr>
          <p:cNvPr id="3074" name="Picture 2" descr="0">
            <a:extLst>
              <a:ext uri="{FF2B5EF4-FFF2-40B4-BE49-F238E27FC236}">
                <a16:creationId xmlns:a16="http://schemas.microsoft.com/office/drawing/2014/main" id="{54BB345D-6A64-88BE-236D-0F9E9B438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99" y="3237928"/>
            <a:ext cx="7218810" cy="46499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34E870DE-917B-8E3F-055E-5F832E450AC7}"/>
              </a:ext>
            </a:extLst>
          </p:cNvPr>
          <p:cNvSpPr/>
          <p:nvPr/>
        </p:nvSpPr>
        <p:spPr>
          <a:xfrm>
            <a:off x="1" y="9085119"/>
            <a:ext cx="18287999" cy="1202778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315200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-353304" y="131643"/>
            <a:ext cx="17221200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IN" sz="7200" b="1" dirty="0">
                <a:solidFill>
                  <a:srgbClr val="FFFFFF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       WORDCLOUD   </a:t>
            </a:r>
            <a:r>
              <a:rPr lang="en-IN" sz="7200" b="1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&amp; FREQUENT WORD    </a:t>
            </a:r>
            <a:r>
              <a:rPr lang="en-IN" sz="7200" b="1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AN</a:t>
            </a:r>
            <a:r>
              <a:rPr lang="en-IN" sz="7200" b="1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ALYSIS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196714-8CBA-7CE1-A1F1-2A55CED019C2}"/>
              </a:ext>
            </a:extLst>
          </p:cNvPr>
          <p:cNvSpPr txBox="1"/>
          <p:nvPr/>
        </p:nvSpPr>
        <p:spPr>
          <a:xfrm>
            <a:off x="7391400" y="2596074"/>
            <a:ext cx="1073965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frequency analysis and Word Cloud visualization were used to identify commonly discussed topics in customer reviews.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used words such as: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camera,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quality,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mobile,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price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highlight the key product features customers focus on most.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Word Cloud visually represents important terms, where larger words indicate higher frequency in the dataset.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helped identify major customer discussion trends and product concerns.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0" name="Picture 4" descr="0">
            <a:extLst>
              <a:ext uri="{FF2B5EF4-FFF2-40B4-BE49-F238E27FC236}">
                <a16:creationId xmlns:a16="http://schemas.microsoft.com/office/drawing/2014/main" id="{1DA36D5B-66F0-C844-79A1-BEE8BDD5D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71996"/>
            <a:ext cx="6488823" cy="345730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0">
            <a:extLst>
              <a:ext uri="{FF2B5EF4-FFF2-40B4-BE49-F238E27FC236}">
                <a16:creationId xmlns:a16="http://schemas.microsoft.com/office/drawing/2014/main" id="{B6D22C02-7743-C111-A2BE-6F306C3E9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180339"/>
            <a:ext cx="6488823" cy="3839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8" name="Group 5">
            <a:extLst>
              <a:ext uri="{FF2B5EF4-FFF2-40B4-BE49-F238E27FC236}">
                <a16:creationId xmlns:a16="http://schemas.microsoft.com/office/drawing/2014/main" id="{C36906C4-CCD7-1B09-98B3-94AB92605EE9}"/>
              </a:ext>
            </a:extLst>
          </p:cNvPr>
          <p:cNvGrpSpPr/>
          <p:nvPr/>
        </p:nvGrpSpPr>
        <p:grpSpPr>
          <a:xfrm>
            <a:off x="16687800" y="0"/>
            <a:ext cx="1600200" cy="1714500"/>
            <a:chOff x="0" y="0"/>
            <a:chExt cx="2466605" cy="2464222"/>
          </a:xfrm>
        </p:grpSpPr>
        <p:grpSp>
          <p:nvGrpSpPr>
            <p:cNvPr id="39" name="Group 6">
              <a:extLst>
                <a:ext uri="{FF2B5EF4-FFF2-40B4-BE49-F238E27FC236}">
                  <a16:creationId xmlns:a16="http://schemas.microsoft.com/office/drawing/2014/main" id="{24D3934E-75C7-E1C1-718F-02550B9B3886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41" name="Freeform 7">
                <a:extLst>
                  <a:ext uri="{FF2B5EF4-FFF2-40B4-BE49-F238E27FC236}">
                    <a16:creationId xmlns:a16="http://schemas.microsoft.com/office/drawing/2014/main" id="{0C28564F-606A-378E-37D2-5FF0936A90B3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2" name="TextBox 8">
                <a:extLst>
                  <a:ext uri="{FF2B5EF4-FFF2-40B4-BE49-F238E27FC236}">
                    <a16:creationId xmlns:a16="http://schemas.microsoft.com/office/drawing/2014/main" id="{CFF24179-7907-638F-9112-1F32316D04F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0" name="TextBox 9">
              <a:extLst>
                <a:ext uri="{FF2B5EF4-FFF2-40B4-BE49-F238E27FC236}">
                  <a16:creationId xmlns:a16="http://schemas.microsoft.com/office/drawing/2014/main" id="{870F906D-8E80-88C1-8C3D-EDF6AC231FEB}"/>
                </a:ext>
              </a:extLst>
            </p:cNvPr>
            <p:cNvSpPr txBox="1"/>
            <p:nvPr/>
          </p:nvSpPr>
          <p:spPr>
            <a:xfrm>
              <a:off x="319163" y="694050"/>
              <a:ext cx="1828278" cy="1211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3013681" y="276628"/>
            <a:ext cx="11560683" cy="118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TF-IDF VECTORIZATION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3DD670-33FA-02D2-7887-DC173A184C83}"/>
              </a:ext>
            </a:extLst>
          </p:cNvPr>
          <p:cNvSpPr txBox="1"/>
          <p:nvPr/>
        </p:nvSpPr>
        <p:spPr>
          <a:xfrm>
            <a:off x="275074" y="2067585"/>
            <a:ext cx="1176452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preprocessing the review text, TF-IDF (Term Frequency–Inverse Document Frequency) vectorization was applied to convert textual data into numerical form for machine learning.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measures the importance of words in a review relative to the entire dataset.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occurring but meaningful words receive higher importance, while very common words receive lower importance.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cleaned reviews were transformed into numerical feature vectors, which were then used for training machine learning models for sentiment classification.</a:t>
            </a:r>
          </a:p>
        </p:txBody>
      </p:sp>
      <p:grpSp>
        <p:nvGrpSpPr>
          <p:cNvPr id="52" name="Group 10">
            <a:extLst>
              <a:ext uri="{FF2B5EF4-FFF2-40B4-BE49-F238E27FC236}">
                <a16:creationId xmlns:a16="http://schemas.microsoft.com/office/drawing/2014/main" id="{C8EC0252-0F4E-031F-6269-B45C51B74EB0}"/>
              </a:ext>
            </a:extLst>
          </p:cNvPr>
          <p:cNvGrpSpPr/>
          <p:nvPr/>
        </p:nvGrpSpPr>
        <p:grpSpPr>
          <a:xfrm>
            <a:off x="1023214" y="7605045"/>
            <a:ext cx="2149268" cy="2172727"/>
            <a:chOff x="0" y="0"/>
            <a:chExt cx="812800" cy="812800"/>
          </a:xfrm>
        </p:grpSpPr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DE4AC2A2-076D-FFB3-AC63-B14B6F5793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54" name="TextBox 12">
              <a:extLst>
                <a:ext uri="{FF2B5EF4-FFF2-40B4-BE49-F238E27FC236}">
                  <a16:creationId xmlns:a16="http://schemas.microsoft.com/office/drawing/2014/main" id="{792D4BB3-1700-027D-2F83-7762DAACA3D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5" name="Group 13">
            <a:extLst>
              <a:ext uri="{FF2B5EF4-FFF2-40B4-BE49-F238E27FC236}">
                <a16:creationId xmlns:a16="http://schemas.microsoft.com/office/drawing/2014/main" id="{CEF57B1A-0976-4E64-3E92-33BFC9EA0F74}"/>
              </a:ext>
            </a:extLst>
          </p:cNvPr>
          <p:cNvGrpSpPr/>
          <p:nvPr/>
        </p:nvGrpSpPr>
        <p:grpSpPr>
          <a:xfrm>
            <a:off x="5560919" y="7506269"/>
            <a:ext cx="2273812" cy="2346151"/>
            <a:chOff x="0" y="0"/>
            <a:chExt cx="812800" cy="812800"/>
          </a:xfrm>
        </p:grpSpPr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7F92D709-E098-484B-1828-6C1156BE0AF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7" name="TextBox 15">
              <a:extLst>
                <a:ext uri="{FF2B5EF4-FFF2-40B4-BE49-F238E27FC236}">
                  <a16:creationId xmlns:a16="http://schemas.microsoft.com/office/drawing/2014/main" id="{4BEE343B-D45A-C62D-2270-7823DC98CDF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4" name="TextBox 22">
            <a:extLst>
              <a:ext uri="{FF2B5EF4-FFF2-40B4-BE49-F238E27FC236}">
                <a16:creationId xmlns:a16="http://schemas.microsoft.com/office/drawing/2014/main" id="{008FA447-3D83-1ED3-2B2E-F57693D9CE7F}"/>
              </a:ext>
            </a:extLst>
          </p:cNvPr>
          <p:cNvSpPr txBox="1"/>
          <p:nvPr/>
        </p:nvSpPr>
        <p:spPr>
          <a:xfrm>
            <a:off x="1133410" y="8359424"/>
            <a:ext cx="1984104" cy="736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Clean Reviews</a:t>
            </a:r>
            <a:endParaRPr lang="en-US" sz="2246" b="1" spc="-6" dirty="0">
              <a:solidFill>
                <a:srgbClr val="3A58E4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sp>
        <p:nvSpPr>
          <p:cNvPr id="66" name="TextBox 24">
            <a:extLst>
              <a:ext uri="{FF2B5EF4-FFF2-40B4-BE49-F238E27FC236}">
                <a16:creationId xmlns:a16="http://schemas.microsoft.com/office/drawing/2014/main" id="{8BF174CD-BE77-59BF-7B73-6A3D0F0D0E0D}"/>
              </a:ext>
            </a:extLst>
          </p:cNvPr>
          <p:cNvSpPr txBox="1"/>
          <p:nvPr/>
        </p:nvSpPr>
        <p:spPr>
          <a:xfrm>
            <a:off x="5564826" y="8299457"/>
            <a:ext cx="2197036" cy="736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TF-IDF Vectorization</a:t>
            </a:r>
            <a:endParaRPr lang="en-US" sz="2246" b="1" spc="-6" dirty="0">
              <a:solidFill>
                <a:schemeClr val="bg1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72" name="Group 30">
            <a:extLst>
              <a:ext uri="{FF2B5EF4-FFF2-40B4-BE49-F238E27FC236}">
                <a16:creationId xmlns:a16="http://schemas.microsoft.com/office/drawing/2014/main" id="{6CC1A3E9-756B-E62D-E979-41F072DDD355}"/>
              </a:ext>
            </a:extLst>
          </p:cNvPr>
          <p:cNvGrpSpPr/>
          <p:nvPr/>
        </p:nvGrpSpPr>
        <p:grpSpPr>
          <a:xfrm>
            <a:off x="2334494" y="7559750"/>
            <a:ext cx="746986" cy="746986"/>
            <a:chOff x="0" y="0"/>
            <a:chExt cx="995981" cy="995981"/>
          </a:xfrm>
        </p:grpSpPr>
        <p:grpSp>
          <p:nvGrpSpPr>
            <p:cNvPr id="73" name="Group 31">
              <a:extLst>
                <a:ext uri="{FF2B5EF4-FFF2-40B4-BE49-F238E27FC236}">
                  <a16:creationId xmlns:a16="http://schemas.microsoft.com/office/drawing/2014/main" id="{58A494BC-F5D2-8CB8-EB46-7783D2A39BAC}"/>
                </a:ext>
              </a:extLst>
            </p:cNvPr>
            <p:cNvGrpSpPr/>
            <p:nvPr/>
          </p:nvGrpSpPr>
          <p:grpSpPr>
            <a:xfrm>
              <a:off x="0" y="0"/>
              <a:ext cx="995981" cy="995981"/>
              <a:chOff x="0" y="0"/>
              <a:chExt cx="812800" cy="812800"/>
            </a:xfrm>
          </p:grpSpPr>
          <p:sp>
            <p:nvSpPr>
              <p:cNvPr id="75" name="Freeform 32">
                <a:extLst>
                  <a:ext uri="{FF2B5EF4-FFF2-40B4-BE49-F238E27FC236}">
                    <a16:creationId xmlns:a16="http://schemas.microsoft.com/office/drawing/2014/main" id="{8160D111-C125-E969-86BB-8B369D51B2F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76" name="TextBox 33">
                <a:extLst>
                  <a:ext uri="{FF2B5EF4-FFF2-40B4-BE49-F238E27FC236}">
                    <a16:creationId xmlns:a16="http://schemas.microsoft.com/office/drawing/2014/main" id="{2E009F73-B7BF-9912-3990-F2BDB5F5778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34">
              <a:extLst>
                <a:ext uri="{FF2B5EF4-FFF2-40B4-BE49-F238E27FC236}">
                  <a16:creationId xmlns:a16="http://schemas.microsoft.com/office/drawing/2014/main" id="{62B7F227-A617-BFCD-13E9-52984804BC3B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01</a:t>
              </a:r>
            </a:p>
          </p:txBody>
        </p:sp>
      </p:grpSp>
      <p:grpSp>
        <p:nvGrpSpPr>
          <p:cNvPr id="77" name="Group 35">
            <a:extLst>
              <a:ext uri="{FF2B5EF4-FFF2-40B4-BE49-F238E27FC236}">
                <a16:creationId xmlns:a16="http://schemas.microsoft.com/office/drawing/2014/main" id="{E096B744-D0F7-78F0-1F3F-9AE590A1FD4C}"/>
              </a:ext>
            </a:extLst>
          </p:cNvPr>
          <p:cNvGrpSpPr/>
          <p:nvPr/>
        </p:nvGrpSpPr>
        <p:grpSpPr>
          <a:xfrm>
            <a:off x="7084906" y="7526503"/>
            <a:ext cx="746986" cy="723653"/>
            <a:chOff x="0" y="-1"/>
            <a:chExt cx="995981" cy="995981"/>
          </a:xfrm>
        </p:grpSpPr>
        <p:grpSp>
          <p:nvGrpSpPr>
            <p:cNvPr id="78" name="Group 36">
              <a:extLst>
                <a:ext uri="{FF2B5EF4-FFF2-40B4-BE49-F238E27FC236}">
                  <a16:creationId xmlns:a16="http://schemas.microsoft.com/office/drawing/2014/main" id="{0AFBEFDF-AB9B-1B78-D09E-96A149426F04}"/>
                </a:ext>
              </a:extLst>
            </p:cNvPr>
            <p:cNvGrpSpPr/>
            <p:nvPr/>
          </p:nvGrpSpPr>
          <p:grpSpPr>
            <a:xfrm>
              <a:off x="0" y="-1"/>
              <a:ext cx="995981" cy="995981"/>
              <a:chOff x="0" y="-1"/>
              <a:chExt cx="812800" cy="812800"/>
            </a:xfrm>
          </p:grpSpPr>
          <p:sp>
            <p:nvSpPr>
              <p:cNvPr id="80" name="Freeform 37">
                <a:extLst>
                  <a:ext uri="{FF2B5EF4-FFF2-40B4-BE49-F238E27FC236}">
                    <a16:creationId xmlns:a16="http://schemas.microsoft.com/office/drawing/2014/main" id="{D770F601-82C5-BAC1-260B-BEFCD43561BD}"/>
                  </a:ext>
                </a:extLst>
              </p:cNvPr>
              <p:cNvSpPr/>
              <p:nvPr/>
            </p:nvSpPr>
            <p:spPr>
              <a:xfrm>
                <a:off x="0" y="-1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81" name="TextBox 38">
                <a:extLst>
                  <a:ext uri="{FF2B5EF4-FFF2-40B4-BE49-F238E27FC236}">
                    <a16:creationId xmlns:a16="http://schemas.microsoft.com/office/drawing/2014/main" id="{1C9614EC-BAEB-1C79-FD2F-A80E6FA1B326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9" name="TextBox 39">
              <a:extLst>
                <a:ext uri="{FF2B5EF4-FFF2-40B4-BE49-F238E27FC236}">
                  <a16:creationId xmlns:a16="http://schemas.microsoft.com/office/drawing/2014/main" id="{65B4FCB6-AB6B-A16E-8B68-86C0C4F9544A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02</a:t>
              </a:r>
            </a:p>
          </p:txBody>
        </p:sp>
      </p:grpSp>
      <p:grpSp>
        <p:nvGrpSpPr>
          <p:cNvPr id="92" name="Group 10">
            <a:extLst>
              <a:ext uri="{FF2B5EF4-FFF2-40B4-BE49-F238E27FC236}">
                <a16:creationId xmlns:a16="http://schemas.microsoft.com/office/drawing/2014/main" id="{534E1BA3-4456-2491-9AA7-0EAFF3C17CCE}"/>
              </a:ext>
            </a:extLst>
          </p:cNvPr>
          <p:cNvGrpSpPr/>
          <p:nvPr/>
        </p:nvGrpSpPr>
        <p:grpSpPr>
          <a:xfrm>
            <a:off x="10195132" y="7581593"/>
            <a:ext cx="2149268" cy="2172727"/>
            <a:chOff x="0" y="0"/>
            <a:chExt cx="812800" cy="812800"/>
          </a:xfrm>
        </p:grpSpPr>
        <p:sp>
          <p:nvSpPr>
            <p:cNvPr id="93" name="Freeform 11">
              <a:extLst>
                <a:ext uri="{FF2B5EF4-FFF2-40B4-BE49-F238E27FC236}">
                  <a16:creationId xmlns:a16="http://schemas.microsoft.com/office/drawing/2014/main" id="{C68ED9BC-9ECC-AF2C-B096-04FF905B445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gradFill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94" name="TextBox 12">
              <a:extLst>
                <a:ext uri="{FF2B5EF4-FFF2-40B4-BE49-F238E27FC236}">
                  <a16:creationId xmlns:a16="http://schemas.microsoft.com/office/drawing/2014/main" id="{26190D8A-C3E7-3778-DC56-15BC6EE9A61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5" name="TextBox 22">
            <a:extLst>
              <a:ext uri="{FF2B5EF4-FFF2-40B4-BE49-F238E27FC236}">
                <a16:creationId xmlns:a16="http://schemas.microsoft.com/office/drawing/2014/main" id="{972CE6CE-9FCC-6EE9-DF12-50257CC6A9B6}"/>
              </a:ext>
            </a:extLst>
          </p:cNvPr>
          <p:cNvSpPr txBox="1"/>
          <p:nvPr/>
        </p:nvSpPr>
        <p:spPr>
          <a:xfrm>
            <a:off x="10305328" y="8335972"/>
            <a:ext cx="1984104" cy="1108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Numerical Feature Matrix</a:t>
            </a:r>
            <a:endParaRPr lang="en-US" sz="2246" b="1" spc="-6" dirty="0">
              <a:solidFill>
                <a:srgbClr val="3A58E4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96" name="Group 30">
            <a:extLst>
              <a:ext uri="{FF2B5EF4-FFF2-40B4-BE49-F238E27FC236}">
                <a16:creationId xmlns:a16="http://schemas.microsoft.com/office/drawing/2014/main" id="{FCF02BFF-1BD0-B514-E410-892D32238F08}"/>
              </a:ext>
            </a:extLst>
          </p:cNvPr>
          <p:cNvGrpSpPr/>
          <p:nvPr/>
        </p:nvGrpSpPr>
        <p:grpSpPr>
          <a:xfrm>
            <a:off x="11506412" y="7536298"/>
            <a:ext cx="746986" cy="746986"/>
            <a:chOff x="0" y="0"/>
            <a:chExt cx="995981" cy="995981"/>
          </a:xfrm>
        </p:grpSpPr>
        <p:grpSp>
          <p:nvGrpSpPr>
            <p:cNvPr id="97" name="Group 31">
              <a:extLst>
                <a:ext uri="{FF2B5EF4-FFF2-40B4-BE49-F238E27FC236}">
                  <a16:creationId xmlns:a16="http://schemas.microsoft.com/office/drawing/2014/main" id="{6A263539-DF27-0FEA-F9C0-5E0D4D437C0D}"/>
                </a:ext>
              </a:extLst>
            </p:cNvPr>
            <p:cNvGrpSpPr/>
            <p:nvPr/>
          </p:nvGrpSpPr>
          <p:grpSpPr>
            <a:xfrm>
              <a:off x="0" y="0"/>
              <a:ext cx="995981" cy="995981"/>
              <a:chOff x="0" y="0"/>
              <a:chExt cx="812800" cy="812800"/>
            </a:xfrm>
          </p:grpSpPr>
          <p:sp>
            <p:nvSpPr>
              <p:cNvPr id="99" name="Freeform 32">
                <a:extLst>
                  <a:ext uri="{FF2B5EF4-FFF2-40B4-BE49-F238E27FC236}">
                    <a16:creationId xmlns:a16="http://schemas.microsoft.com/office/drawing/2014/main" id="{2F825DFF-D033-4BC9-D492-B04B884DCE6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id="100" name="TextBox 33">
                <a:extLst>
                  <a:ext uri="{FF2B5EF4-FFF2-40B4-BE49-F238E27FC236}">
                    <a16:creationId xmlns:a16="http://schemas.microsoft.com/office/drawing/2014/main" id="{07A26621-1F98-7DC6-5B87-026E4823123C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8" name="TextBox 34">
              <a:extLst>
                <a:ext uri="{FF2B5EF4-FFF2-40B4-BE49-F238E27FC236}">
                  <a16:creationId xmlns:a16="http://schemas.microsoft.com/office/drawing/2014/main" id="{F3BA981C-8DCB-530A-3198-2BAE805CFD5C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867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03</a:t>
              </a:r>
            </a:p>
          </p:txBody>
        </p:sp>
      </p:grpSp>
      <p:grpSp>
        <p:nvGrpSpPr>
          <p:cNvPr id="121" name="Group 13">
            <a:extLst>
              <a:ext uri="{FF2B5EF4-FFF2-40B4-BE49-F238E27FC236}">
                <a16:creationId xmlns:a16="http://schemas.microsoft.com/office/drawing/2014/main" id="{6A9F0D04-F66A-D9FB-D683-CDC8CDA87AD1}"/>
              </a:ext>
            </a:extLst>
          </p:cNvPr>
          <p:cNvGrpSpPr/>
          <p:nvPr/>
        </p:nvGrpSpPr>
        <p:grpSpPr>
          <a:xfrm>
            <a:off x="14663995" y="7506269"/>
            <a:ext cx="2273812" cy="2346151"/>
            <a:chOff x="0" y="0"/>
            <a:chExt cx="812800" cy="812800"/>
          </a:xfrm>
        </p:grpSpPr>
        <p:sp>
          <p:nvSpPr>
            <p:cNvPr id="122" name="Freeform 14">
              <a:extLst>
                <a:ext uri="{FF2B5EF4-FFF2-40B4-BE49-F238E27FC236}">
                  <a16:creationId xmlns:a16="http://schemas.microsoft.com/office/drawing/2014/main" id="{DE160CBD-29FC-20E7-3FCB-26A64E2113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123" name="TextBox 15">
              <a:extLst>
                <a:ext uri="{FF2B5EF4-FFF2-40B4-BE49-F238E27FC236}">
                  <a16:creationId xmlns:a16="http://schemas.microsoft.com/office/drawing/2014/main" id="{D79706A1-7186-4347-2616-8107422DA93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40108" tIns="40108" rIns="40108" bIns="40108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4" name="TextBox 24">
            <a:extLst>
              <a:ext uri="{FF2B5EF4-FFF2-40B4-BE49-F238E27FC236}">
                <a16:creationId xmlns:a16="http://schemas.microsoft.com/office/drawing/2014/main" id="{2EEBD4F5-A1EB-F963-129A-495EC1CFBFC9}"/>
              </a:ext>
            </a:extLst>
          </p:cNvPr>
          <p:cNvSpPr txBox="1"/>
          <p:nvPr/>
        </p:nvSpPr>
        <p:spPr>
          <a:xfrm>
            <a:off x="14819147" y="8224733"/>
            <a:ext cx="1984104" cy="1107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IN" sz="24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Machine Learning Models</a:t>
            </a:r>
            <a:endParaRPr lang="en-US" sz="2246" b="1" spc="-6" dirty="0">
              <a:solidFill>
                <a:schemeClr val="bg1"/>
              </a:solidFill>
              <a:latin typeface="Poppins Black" panose="00000A00000000000000" pitchFamily="2" charset="0"/>
              <a:ea typeface="Poppins Bold"/>
              <a:cs typeface="Poppins Black" panose="00000A00000000000000" pitchFamily="2" charset="0"/>
              <a:sym typeface="Poppins Bold"/>
            </a:endParaRPr>
          </a:p>
        </p:txBody>
      </p:sp>
      <p:grpSp>
        <p:nvGrpSpPr>
          <p:cNvPr id="125" name="Group 35">
            <a:extLst>
              <a:ext uri="{FF2B5EF4-FFF2-40B4-BE49-F238E27FC236}">
                <a16:creationId xmlns:a16="http://schemas.microsoft.com/office/drawing/2014/main" id="{9556C91D-1BCC-FA56-38A5-4777239A4A80}"/>
              </a:ext>
            </a:extLst>
          </p:cNvPr>
          <p:cNvGrpSpPr/>
          <p:nvPr/>
        </p:nvGrpSpPr>
        <p:grpSpPr>
          <a:xfrm>
            <a:off x="16187982" y="7526503"/>
            <a:ext cx="746986" cy="723653"/>
            <a:chOff x="0" y="-1"/>
            <a:chExt cx="995981" cy="995981"/>
          </a:xfrm>
        </p:grpSpPr>
        <p:grpSp>
          <p:nvGrpSpPr>
            <p:cNvPr id="126" name="Group 36">
              <a:extLst>
                <a:ext uri="{FF2B5EF4-FFF2-40B4-BE49-F238E27FC236}">
                  <a16:creationId xmlns:a16="http://schemas.microsoft.com/office/drawing/2014/main" id="{410AE653-4E1D-309D-8AAE-9841AE006AA3}"/>
                </a:ext>
              </a:extLst>
            </p:cNvPr>
            <p:cNvGrpSpPr/>
            <p:nvPr/>
          </p:nvGrpSpPr>
          <p:grpSpPr>
            <a:xfrm>
              <a:off x="0" y="-1"/>
              <a:ext cx="995981" cy="995981"/>
              <a:chOff x="0" y="-1"/>
              <a:chExt cx="812800" cy="812800"/>
            </a:xfrm>
          </p:grpSpPr>
          <p:sp>
            <p:nvSpPr>
              <p:cNvPr id="128" name="Freeform 37">
                <a:extLst>
                  <a:ext uri="{FF2B5EF4-FFF2-40B4-BE49-F238E27FC236}">
                    <a16:creationId xmlns:a16="http://schemas.microsoft.com/office/drawing/2014/main" id="{A4F12310-1413-E187-803D-C68C6110D4FA}"/>
                  </a:ext>
                </a:extLst>
              </p:cNvPr>
              <p:cNvSpPr/>
              <p:nvPr/>
            </p:nvSpPr>
            <p:spPr>
              <a:xfrm>
                <a:off x="0" y="-1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sq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prstDash val="solid"/>
                <a:miter/>
              </a:ln>
            </p:spPr>
          </p:sp>
          <p:sp>
            <p:nvSpPr>
              <p:cNvPr id="129" name="TextBox 38">
                <a:extLst>
                  <a:ext uri="{FF2B5EF4-FFF2-40B4-BE49-F238E27FC236}">
                    <a16:creationId xmlns:a16="http://schemas.microsoft.com/office/drawing/2014/main" id="{2223C270-9C5A-7EB9-F56C-C04359B5AA05}"/>
                  </a:ext>
                </a:extLst>
              </p:cNvPr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7" name="TextBox 39">
              <a:extLst>
                <a:ext uri="{FF2B5EF4-FFF2-40B4-BE49-F238E27FC236}">
                  <a16:creationId xmlns:a16="http://schemas.microsoft.com/office/drawing/2014/main" id="{49567F3B-870A-F3D3-D12B-5D93BB1E4CF0}"/>
                </a:ext>
              </a:extLst>
            </p:cNvPr>
            <p:cNvSpPr txBox="1"/>
            <p:nvPr/>
          </p:nvSpPr>
          <p:spPr>
            <a:xfrm>
              <a:off x="175623" y="235561"/>
              <a:ext cx="644736" cy="4939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2"/>
                </a:lnSpc>
              </a:pPr>
              <a:r>
                <a:rPr lang="en-US" sz="2227" spc="-6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"/>
                  <a:ea typeface="Poppins"/>
                  <a:cs typeface="Poppins"/>
                  <a:sym typeface="Poppins"/>
                </a:rPr>
                <a:t>04</a:t>
              </a:r>
            </a:p>
          </p:txBody>
        </p:sp>
      </p:grpSp>
      <p:pic>
        <p:nvPicPr>
          <p:cNvPr id="131" name="Picture 130">
            <a:extLst>
              <a:ext uri="{FF2B5EF4-FFF2-40B4-BE49-F238E27FC236}">
                <a16:creationId xmlns:a16="http://schemas.microsoft.com/office/drawing/2014/main" id="{439D4C0B-4EAC-B4D3-4D58-FF1FCDD4B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680" y="4038069"/>
            <a:ext cx="6043333" cy="188617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32" name="Group 26">
            <a:extLst>
              <a:ext uri="{FF2B5EF4-FFF2-40B4-BE49-F238E27FC236}">
                <a16:creationId xmlns:a16="http://schemas.microsoft.com/office/drawing/2014/main" id="{E4CED1B2-1B18-7016-7C1C-7EF61D43ACDE}"/>
              </a:ext>
            </a:extLst>
          </p:cNvPr>
          <p:cNvGrpSpPr/>
          <p:nvPr/>
        </p:nvGrpSpPr>
        <p:grpSpPr>
          <a:xfrm rot="5400000">
            <a:off x="3922148" y="8266898"/>
            <a:ext cx="924955" cy="668708"/>
            <a:chOff x="0" y="0"/>
            <a:chExt cx="1387983" cy="784032"/>
          </a:xfrm>
        </p:grpSpPr>
        <p:sp>
          <p:nvSpPr>
            <p:cNvPr id="133" name="Freeform 27">
              <a:extLst>
                <a:ext uri="{FF2B5EF4-FFF2-40B4-BE49-F238E27FC236}">
                  <a16:creationId xmlns:a16="http://schemas.microsoft.com/office/drawing/2014/main" id="{D1CE753F-E3E3-BA9A-CA9E-A9CCBA7F21D7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4" name="TextBox 28">
              <a:extLst>
                <a:ext uri="{FF2B5EF4-FFF2-40B4-BE49-F238E27FC236}">
                  <a16:creationId xmlns:a16="http://schemas.microsoft.com/office/drawing/2014/main" id="{5082ED96-6763-340F-B28C-D5731482BE8D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5" name="Group 26">
            <a:extLst>
              <a:ext uri="{FF2B5EF4-FFF2-40B4-BE49-F238E27FC236}">
                <a16:creationId xmlns:a16="http://schemas.microsoft.com/office/drawing/2014/main" id="{41C8C601-E22C-6AB9-08E9-154C678B68D5}"/>
              </a:ext>
            </a:extLst>
          </p:cNvPr>
          <p:cNvGrpSpPr/>
          <p:nvPr/>
        </p:nvGrpSpPr>
        <p:grpSpPr>
          <a:xfrm rot="5400000">
            <a:off x="8575768" y="8243424"/>
            <a:ext cx="924955" cy="668708"/>
            <a:chOff x="0" y="0"/>
            <a:chExt cx="1387983" cy="784032"/>
          </a:xfrm>
        </p:grpSpPr>
        <p:sp>
          <p:nvSpPr>
            <p:cNvPr id="136" name="Freeform 27">
              <a:extLst>
                <a:ext uri="{FF2B5EF4-FFF2-40B4-BE49-F238E27FC236}">
                  <a16:creationId xmlns:a16="http://schemas.microsoft.com/office/drawing/2014/main" id="{F615B0E2-6399-B686-5E29-AA5B5A92D336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7" name="TextBox 28">
              <a:extLst>
                <a:ext uri="{FF2B5EF4-FFF2-40B4-BE49-F238E27FC236}">
                  <a16:creationId xmlns:a16="http://schemas.microsoft.com/office/drawing/2014/main" id="{4E6A9368-70A2-D147-7F6F-8A6182D602CF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8" name="Group 26">
            <a:extLst>
              <a:ext uri="{FF2B5EF4-FFF2-40B4-BE49-F238E27FC236}">
                <a16:creationId xmlns:a16="http://schemas.microsoft.com/office/drawing/2014/main" id="{CFC745E9-B935-3D5F-8930-4E4C72AA8212}"/>
              </a:ext>
            </a:extLst>
          </p:cNvPr>
          <p:cNvGrpSpPr/>
          <p:nvPr/>
        </p:nvGrpSpPr>
        <p:grpSpPr>
          <a:xfrm rot="5400000">
            <a:off x="13223968" y="8243424"/>
            <a:ext cx="924955" cy="668708"/>
            <a:chOff x="0" y="0"/>
            <a:chExt cx="1387983" cy="784032"/>
          </a:xfrm>
        </p:grpSpPr>
        <p:sp>
          <p:nvSpPr>
            <p:cNvPr id="139" name="Freeform 27">
              <a:extLst>
                <a:ext uri="{FF2B5EF4-FFF2-40B4-BE49-F238E27FC236}">
                  <a16:creationId xmlns:a16="http://schemas.microsoft.com/office/drawing/2014/main" id="{2F7786D4-2676-0925-92CD-2238AB8A6169}"/>
                </a:ext>
              </a:extLst>
            </p:cNvPr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40" name="TextBox 28">
              <a:extLst>
                <a:ext uri="{FF2B5EF4-FFF2-40B4-BE49-F238E27FC236}">
                  <a16:creationId xmlns:a16="http://schemas.microsoft.com/office/drawing/2014/main" id="{CE73A8E3-D7EC-60AC-4568-513D293FAC39}"/>
                </a:ext>
              </a:extLst>
            </p:cNvPr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701" y="235469"/>
            <a:ext cx="49740" cy="2131307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10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7053" y="49755"/>
            <a:ext cx="15421473" cy="25027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29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MACHINE LEARNING MODELS &amp; MODEL COMPARISON</a:t>
            </a:r>
            <a:endParaRPr lang="en-US" sz="7200" spc="-654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8600" y="2688510"/>
            <a:ext cx="1059180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TF-IDF vectorization, multiple machine learning models were trained to classify customer reviews into Positive, Negative, and Neutral sentiments.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divided into training and testing sets before model training and evaluation.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models were implemented: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Logistic Regression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Naive Bayes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Support Vector Machine (SVM)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model was evaluated using accuracy and classification performance metrics to identify the best-performing sentiment classification model.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models,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the highest accuracy and was selected as the final model for deployment.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0">
            <a:extLst>
              <a:ext uri="{FF2B5EF4-FFF2-40B4-BE49-F238E27FC236}">
                <a16:creationId xmlns:a16="http://schemas.microsoft.com/office/drawing/2014/main" id="{B1611E59-0C75-D66A-5238-08796AD6C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0" y="5905500"/>
            <a:ext cx="6675120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tx1"/>
            </a:solidFill>
          </a:ln>
          <a:effectLst>
            <a:reflection blurRad="12700" stA="38000" endPos="28000" dist="5000" dir="5400000" sy="-100000" algn="bl" rotWithShape="0"/>
          </a:effectLst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5196D5C-F8AC-D15D-EF54-8B5EA391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681651"/>
              </p:ext>
            </p:extLst>
          </p:nvPr>
        </p:nvGraphicFramePr>
        <p:xfrm>
          <a:off x="10957560" y="2988016"/>
          <a:ext cx="6858000" cy="266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1498342087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945329382"/>
                    </a:ext>
                  </a:extLst>
                </a:gridCol>
              </a:tblGrid>
              <a:tr h="387921">
                <a:tc>
                  <a:txBody>
                    <a:bodyPr/>
                    <a:lstStyle/>
                    <a:p>
                      <a:pPr algn="ctr"/>
                      <a:r>
                        <a:rPr lang="en-IN" sz="3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Black" panose="00000A00000000000000" pitchFamily="2" charset="0"/>
                          <a:cs typeface="Poppins Black" panose="00000A00000000000000" pitchFamily="2" charset="0"/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32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oppins Black" panose="00000A00000000000000" pitchFamily="2" charset="0"/>
                          <a:cs typeface="Poppins Black" panose="00000A00000000000000" pitchFamily="2" charset="0"/>
                        </a:rPr>
                        <a:t>Accuracy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31462961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 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57627621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Naive Bayes </a:t>
                      </a:r>
                    </a:p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990663538"/>
                  </a:ext>
                </a:extLst>
              </a:tr>
              <a:tr h="6178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0.7743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>
                      <a:blip r:embed="rId3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86047726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18BEB09A-6C63-477A-952D-BF70183B486F}"/>
              </a:ext>
            </a:extLst>
          </p:cNvPr>
          <p:cNvGrpSpPr/>
          <p:nvPr/>
        </p:nvGrpSpPr>
        <p:grpSpPr>
          <a:xfrm>
            <a:off x="10972800" y="0"/>
            <a:ext cx="7315200" cy="10287000"/>
            <a:chOff x="0" y="0"/>
            <a:chExt cx="1827339" cy="2709333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ED893DC9-A3F4-0450-2DEC-3028B3A7A4BD}"/>
                </a:ext>
              </a:extLst>
            </p:cNvPr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D84165BE-1B77-9116-1C34-60418AA4DFAA}"/>
                </a:ext>
              </a:extLst>
            </p:cNvPr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942975" y="7544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20048" y="52588"/>
            <a:ext cx="1849954" cy="1848166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11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86804" y="0"/>
            <a:ext cx="12456794" cy="24129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STREAMLIT DASHBO</a:t>
            </a:r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ARD</a:t>
            </a: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DEPLOYMENT</a:t>
            </a:r>
            <a:endParaRPr lang="en-US" sz="7200" spc="-627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66701" y="2857500"/>
            <a:ext cx="10618596" cy="65864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selecting the best-performing model, the project was deployed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an interactive web-based dashboard.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includes: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project overview,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dataset information,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EDA visualizations,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model performance analysis,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real-time sentiment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deployment allows users to interact with the system and analyze customer reviews dynamically through a user-friendly interface.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transformed the machine learning model into a practical and interactive application.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39D367-385F-1143-EA0F-099D41ECC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948" y="2723525"/>
            <a:ext cx="6962652" cy="341057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28A42B1-35F9-76FC-84D7-277235B14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948" y="6439184"/>
            <a:ext cx="6962652" cy="34287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887200" y="-22860"/>
            <a:ext cx="6400800" cy="1030986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5800" y="259841"/>
            <a:ext cx="12192000" cy="21287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39"/>
              </a:lnSpc>
            </a:pPr>
            <a:r>
              <a:rPr lang="en-IN" sz="7200" dirty="0">
                <a:solidFill>
                  <a:srgbClr val="3A58E4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LIVE SENTIMENT PREDICTION</a:t>
            </a:r>
            <a:endParaRPr lang="en-US" sz="7200" spc="-544" dirty="0">
              <a:solidFill>
                <a:srgbClr val="3A58E4"/>
              </a:solidFill>
              <a:latin typeface="Poppins Black" panose="00000A00000000000000" pitchFamily="2" charset="0"/>
              <a:ea typeface="Bricolage Grotesque"/>
              <a:cs typeface="Poppins Black" panose="00000A00000000000000" pitchFamily="2" charset="0"/>
              <a:sym typeface="Bricolage Grotesqu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51DA9B-2CE9-DA88-4060-2EBFF28BD3FF}"/>
              </a:ext>
            </a:extLst>
          </p:cNvPr>
          <p:cNvSpPr txBox="1"/>
          <p:nvPr/>
        </p:nvSpPr>
        <p:spPr>
          <a:xfrm>
            <a:off x="304800" y="2816312"/>
            <a:ext cx="11582400" cy="6678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deployed dashboard provides a real-time sentiment prediction feature where users can enter customer reviews and instantly receive sentiment classification results.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review is: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using NLP techniques,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transformed using the saved TF-IDF vectorizer,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classified using the trained Logistic Regression model.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predicts whether the review sentiment is: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Positive,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Negative,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Neutral.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feature demonstrates the practical implementation of NLP and machine learning in real-world applications.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4007AA1-3B40-8808-655B-B1783DA3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0" y="2408129"/>
            <a:ext cx="6102856" cy="342117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66283D5-1353-49EF-5A89-7A37E45EB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6370530"/>
            <a:ext cx="6072376" cy="3421170"/>
          </a:xfrm>
          <a:prstGeom prst="rect">
            <a:avLst/>
          </a:prstGeom>
        </p:spPr>
      </p:pic>
      <p:sp>
        <p:nvSpPr>
          <p:cNvPr id="30" name="TextBox 6">
            <a:extLst>
              <a:ext uri="{FF2B5EF4-FFF2-40B4-BE49-F238E27FC236}">
                <a16:creationId xmlns:a16="http://schemas.microsoft.com/office/drawing/2014/main" id="{1BD64F0F-9680-9050-4B1D-144F2603BCBD}"/>
              </a:ext>
            </a:extLst>
          </p:cNvPr>
          <p:cNvSpPr txBox="1"/>
          <p:nvPr/>
        </p:nvSpPr>
        <p:spPr>
          <a:xfrm>
            <a:off x="16677419" y="520537"/>
            <a:ext cx="1371209" cy="899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5"/>
              </a:lnSpc>
            </a:pPr>
            <a:r>
              <a:rPr lang="en-US" sz="6557" spc="-419" dirty="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09</a:t>
            </a:r>
          </a:p>
        </p:txBody>
      </p:sp>
      <p:grpSp>
        <p:nvGrpSpPr>
          <p:cNvPr id="31" name="Group 2">
            <a:extLst>
              <a:ext uri="{FF2B5EF4-FFF2-40B4-BE49-F238E27FC236}">
                <a16:creationId xmlns:a16="http://schemas.microsoft.com/office/drawing/2014/main" id="{29DE44B5-949F-D439-EC6D-7C858BD17484}"/>
              </a:ext>
            </a:extLst>
          </p:cNvPr>
          <p:cNvGrpSpPr/>
          <p:nvPr/>
        </p:nvGrpSpPr>
        <p:grpSpPr>
          <a:xfrm>
            <a:off x="16438046" y="64663"/>
            <a:ext cx="1849954" cy="1848166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32" name="Group 3">
              <a:extLst>
                <a:ext uri="{FF2B5EF4-FFF2-40B4-BE49-F238E27FC236}">
                  <a16:creationId xmlns:a16="http://schemas.microsoft.com/office/drawing/2014/main" id="{B7AA2372-DED5-FD38-7B65-D808DCA5CE80}"/>
                </a:ext>
              </a:extLst>
            </p:cNvPr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34" name="Freeform 4">
                <a:extLst>
                  <a:ext uri="{FF2B5EF4-FFF2-40B4-BE49-F238E27FC236}">
                    <a16:creationId xmlns:a16="http://schemas.microsoft.com/office/drawing/2014/main" id="{D8B4857C-146A-B892-7648-2A49FE965602}"/>
                  </a:ext>
                </a:extLst>
              </p:cNvPr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75EF6395-84DD-F455-C352-530EDE3F8FB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33" name="TextBox 6">
              <a:extLst>
                <a:ext uri="{FF2B5EF4-FFF2-40B4-BE49-F238E27FC236}">
                  <a16:creationId xmlns:a16="http://schemas.microsoft.com/office/drawing/2014/main" id="{80AD7677-9174-2575-AE4F-5C1CAD7C4FF5}"/>
                </a:ext>
              </a:extLst>
            </p:cNvPr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12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660178" y="2826558"/>
            <a:ext cx="17612582" cy="7017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were successfully analyzed using NLP and Machine Learning techniques.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and exploratory data analysis helped understand customer sentiment patterns.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was used to convert text data into numerical features for model training.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machine learning models were implemented and compared for sentiment classification.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achieved the highest accuracy of 77.78% and was deployed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 unstructured review text was one of the major challenges.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text into numerical features using TF-IDF required proper preprocessing.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reviews were comparatively harder to classify accurately.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the complete dashboard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required integration of multiple components.</a:t>
            </a:r>
          </a:p>
        </p:txBody>
      </p:sp>
      <p:sp>
        <p:nvSpPr>
          <p:cNvPr id="43" name="Freeform 5">
            <a:extLst>
              <a:ext uri="{FF2B5EF4-FFF2-40B4-BE49-F238E27FC236}">
                <a16:creationId xmlns:a16="http://schemas.microsoft.com/office/drawing/2014/main" id="{2F0E7274-2A2D-58CD-3459-EDC66AC1804F}"/>
              </a:ext>
            </a:extLst>
          </p:cNvPr>
          <p:cNvSpPr/>
          <p:nvPr/>
        </p:nvSpPr>
        <p:spPr>
          <a:xfrm>
            <a:off x="0" y="0"/>
            <a:ext cx="18322345" cy="2345453"/>
          </a:xfrm>
          <a:custGeom>
            <a:avLst/>
            <a:gdLst/>
            <a:ahLst/>
            <a:cxnLst/>
            <a:rect l="l" t="t" r="r" b="b"/>
            <a:pathLst>
              <a:path w="12543" h="537460">
                <a:moveTo>
                  <a:pt x="0" y="0"/>
                </a:moveTo>
                <a:lnTo>
                  <a:pt x="12543" y="0"/>
                </a:lnTo>
                <a:lnTo>
                  <a:pt x="12543" y="537460"/>
                </a:lnTo>
                <a:lnTo>
                  <a:pt x="0" y="537460"/>
                </a:lnTo>
                <a:close/>
              </a:path>
            </a:pathLst>
          </a:custGeom>
          <a:solidFill>
            <a:srgbClr val="3A58E4"/>
          </a:solidFill>
        </p:spPr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3A3C33-815B-3F30-F413-BBE4C1AB7B4B}"/>
              </a:ext>
            </a:extLst>
          </p:cNvPr>
          <p:cNvSpPr txBox="1"/>
          <p:nvPr/>
        </p:nvSpPr>
        <p:spPr>
          <a:xfrm>
            <a:off x="2667000" y="37129"/>
            <a:ext cx="1135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CONCLUSION &amp;</a:t>
            </a:r>
          </a:p>
          <a:p>
            <a:pPr algn="ctr"/>
            <a:r>
              <a:rPr lang="en-IN" sz="7200" dirty="0">
                <a:solidFill>
                  <a:schemeClr val="bg1"/>
                </a:solidFill>
                <a:latin typeface="Poppins Black" panose="00000A00000000000000" pitchFamily="2" charset="0"/>
                <a:cs typeface="Poppins Black" panose="00000A00000000000000" pitchFamily="2" charset="0"/>
              </a:rPr>
              <a:t> CHALLENGES FACED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15967655" y="75229"/>
            <a:ext cx="2320345" cy="2140762"/>
            <a:chOff x="0" y="0"/>
            <a:chExt cx="2466605" cy="2464222"/>
          </a:xfrm>
          <a:solidFill>
            <a:schemeClr val="bg1"/>
          </a:solidFill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  <a:grpFill/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pFill/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  <a:grpFill/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50"/>
              <a:ext cx="1828278" cy="1123471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25"/>
                </a:lnSpc>
              </a:pPr>
              <a:r>
                <a:rPr lang="en-US" sz="6557" spc="-419" dirty="0">
                  <a:solidFill>
                    <a:srgbClr val="3A58E4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ank You Sign Word On Blue">
            <a:extLst>
              <a:ext uri="{FF2B5EF4-FFF2-40B4-BE49-F238E27FC236}">
                <a16:creationId xmlns:a16="http://schemas.microsoft.com/office/drawing/2014/main" id="{D339CBF0-296C-60C0-59D4-A3484BC1D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69"/>
          <a:stretch>
            <a:fillRect/>
          </a:stretch>
        </p:blipFill>
        <p:spPr bwMode="auto">
          <a:xfrm>
            <a:off x="2413952" y="2171700"/>
            <a:ext cx="13460095" cy="657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1284</Words>
  <Application>Microsoft Office PowerPoint</Application>
  <PresentationFormat>Custom</PresentationFormat>
  <Paragraphs>187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Poppins Black</vt:lpstr>
      <vt:lpstr>Courier New</vt:lpstr>
      <vt:lpstr>Poppins</vt:lpstr>
      <vt:lpstr>Aptos</vt:lpstr>
      <vt:lpstr>Calibri</vt:lpstr>
      <vt:lpstr>Wingdings</vt:lpstr>
      <vt:lpstr>Times New Roman</vt:lpstr>
      <vt:lpstr>Arial</vt:lpstr>
      <vt:lpstr>Bricolage Grotesque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Data Analytics Presentation</dc:title>
  <dc:creator>Bibhuprasad Das</dc:creator>
  <cp:lastModifiedBy>Bibhuprasad Das</cp:lastModifiedBy>
  <cp:revision>27</cp:revision>
  <dcterms:created xsi:type="dcterms:W3CDTF">2006-08-16T00:00:00Z</dcterms:created>
  <dcterms:modified xsi:type="dcterms:W3CDTF">2026-06-11T18:14:28Z</dcterms:modified>
  <dc:identifier>DAHJSB6w2kI</dc:identifier>
</cp:coreProperties>
</file>